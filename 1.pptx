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513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68735" cy="786384"/>
          </a:xfrm>
          <a:prstGeom prst="roundRect">
            <a:avLst>
              <a:gd name="adj" fmla="val 6977"/>
            </a:avLst>
          </a:prstGeom>
          <a:solidFill>
            <a:srgbClr val="002C5F"/>
          </a:solidFill>
          <a:ln/>
        </p:spPr>
      </p:sp>
      <p:sp>
        <p:nvSpPr>
          <p:cNvPr id="3" name="Text 1"/>
          <p:cNvSpPr/>
          <p:nvPr/>
        </p:nvSpPr>
        <p:spPr>
          <a:xfrm>
            <a:off x="649224" y="3017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— Mastercard Interface Processor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" y="7223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Atual da infraestrutura do Emissor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06663" y="45720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4"/>
          <p:cNvSpPr/>
          <p:nvPr/>
        </p:nvSpPr>
        <p:spPr>
          <a:xfrm>
            <a:off x="8506663" y="457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 de Débito · Itaú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68735" cy="530352"/>
          </a:xfrm>
          <a:prstGeom prst="roundRect">
            <a:avLst>
              <a:gd name="adj" fmla="val 8621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252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02C5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33272" y="1133856"/>
            <a:ext cx="10545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é: 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(hardware + software) da Mastercard instalado no data center do Emissor. Troca mensagens ISO 8583 em tempo real entre a rede Banknet e o Autorizador (CICS).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719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</a:t>
            </a:r>
            <a:r>
              <a:rPr lang="en-US" sz="1200" b="1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2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" y="2112264"/>
            <a:ext cx="548640" cy="548640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14" name="Image 0" descr="/home/claude/mip/ic/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203704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16152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Portador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16152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cartão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983916" y="2386584"/>
            <a:ext cx="310896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367964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14268" y="2112264"/>
            <a:ext cx="548640" cy="548640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20" name="Image 1" descr="/home/claude/mip/ic/p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708" y="2203704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172636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172636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compra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940400" y="2386584"/>
            <a:ext cx="310896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6324448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70752" y="2112264"/>
            <a:ext cx="548640" cy="54864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6" name="Image 2" descr="/home/claude/mip/ic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192" y="2203704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129120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7129120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Banknet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896883" y="2386584"/>
            <a:ext cx="310896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9280931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427235" y="2112264"/>
            <a:ext cx="548640" cy="548640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32" name="Image 3" descr="/home/claude/mip/ic/ba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675" y="2203704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085603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Emissor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0085603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 · </a:t>
            </a:r>
            <a:r>
              <a:rPr lang="en-US" sz="1050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10530573" y="2816352"/>
            <a:ext cx="0" cy="219456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411480" y="2999232"/>
            <a:ext cx="11368735" cy="365760"/>
          </a:xfrm>
          <a:prstGeom prst="roundRect">
            <a:avLst>
              <a:gd name="adj" fmla="val 12500"/>
            </a:avLst>
          </a:prstGeom>
          <a:solidFill>
            <a:srgbClr val="002C5F"/>
          </a:solidFill>
          <a:ln/>
        </p:spPr>
      </p:sp>
      <p:sp>
        <p:nvSpPr>
          <p:cNvPr id="37" name="Text 31"/>
          <p:cNvSpPr/>
          <p:nvPr/>
        </p:nvSpPr>
        <p:spPr>
          <a:xfrm>
            <a:off x="630936" y="2999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Atual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4983480" y="2999232"/>
            <a:ext cx="6577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do Emissor (Itaú) — 9 MIPs · CICS on-premise · Cloud AWS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11480" y="3419856"/>
            <a:ext cx="3545738" cy="1298448"/>
          </a:xfrm>
          <a:prstGeom prst="roundRect">
            <a:avLst>
              <a:gd name="adj" fmla="val 3521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39496" y="3511296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</p:sp>
      <p:sp>
        <p:nvSpPr>
          <p:cNvPr id="41" name="Text 35"/>
          <p:cNvSpPr/>
          <p:nvPr/>
        </p:nvSpPr>
        <p:spPr>
          <a:xfrm>
            <a:off x="539496" y="3511296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CT</a:t>
            </a:r>
            <a:endParaRPr lang="en-US" sz="1150" dirty="0"/>
          </a:p>
        </p:txBody>
      </p:sp>
      <p:pic>
        <p:nvPicPr>
          <p:cNvPr id="42" name="Image 4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572" y="3877056"/>
            <a:ext cx="402336" cy="56327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892708" y="4486046"/>
            <a:ext cx="512064" cy="173736"/>
          </a:xfrm>
          <a:prstGeom prst="roundRect">
            <a:avLst>
              <a:gd name="adj" fmla="val 47368"/>
            </a:avLst>
          </a:prstGeom>
          <a:solidFill>
            <a:srgbClr val="EC7000"/>
          </a:solidFill>
          <a:ln/>
        </p:spPr>
      </p:sp>
      <p:sp>
        <p:nvSpPr>
          <p:cNvPr id="44" name="Text 37"/>
          <p:cNvSpPr/>
          <p:nvPr/>
        </p:nvSpPr>
        <p:spPr>
          <a:xfrm>
            <a:off x="892708" y="4486046"/>
            <a:ext cx="512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900" dirty="0"/>
          </a:p>
        </p:txBody>
      </p:sp>
      <p:pic>
        <p:nvPicPr>
          <p:cNvPr id="45" name="Image 5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181" y="3877056"/>
            <a:ext cx="402336" cy="56327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1928317" y="4486046"/>
            <a:ext cx="512064" cy="173736"/>
          </a:xfrm>
          <a:prstGeom prst="roundRect">
            <a:avLst>
              <a:gd name="adj" fmla="val 47368"/>
            </a:avLst>
          </a:prstGeom>
          <a:solidFill>
            <a:srgbClr val="EC7000"/>
          </a:solidFill>
          <a:ln/>
        </p:spPr>
      </p:sp>
      <p:sp>
        <p:nvSpPr>
          <p:cNvPr id="47" name="Text 39"/>
          <p:cNvSpPr/>
          <p:nvPr/>
        </p:nvSpPr>
        <p:spPr>
          <a:xfrm>
            <a:off x="1928317" y="4486046"/>
            <a:ext cx="512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900" dirty="0"/>
          </a:p>
        </p:txBody>
      </p:sp>
      <p:pic>
        <p:nvPicPr>
          <p:cNvPr id="48" name="Image 6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8790" y="3877056"/>
            <a:ext cx="402336" cy="563270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2963926" y="4486046"/>
            <a:ext cx="512064" cy="173736"/>
          </a:xfrm>
          <a:prstGeom prst="roundRect">
            <a:avLst>
              <a:gd name="adj" fmla="val 47368"/>
            </a:avLst>
          </a:prstGeom>
          <a:solidFill>
            <a:srgbClr val="EC7000"/>
          </a:solidFill>
          <a:ln/>
        </p:spPr>
      </p:sp>
      <p:sp>
        <p:nvSpPr>
          <p:cNvPr id="50" name="Text 41"/>
          <p:cNvSpPr/>
          <p:nvPr/>
        </p:nvSpPr>
        <p:spPr>
          <a:xfrm>
            <a:off x="2963926" y="4486046"/>
            <a:ext cx="512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4322978" y="3419856"/>
            <a:ext cx="3545738" cy="1298448"/>
          </a:xfrm>
          <a:prstGeom prst="roundRect">
            <a:avLst>
              <a:gd name="adj" fmla="val 3521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4450994" y="3511296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</p:sp>
      <p:sp>
        <p:nvSpPr>
          <p:cNvPr id="53" name="Text 44"/>
          <p:cNvSpPr/>
          <p:nvPr/>
        </p:nvSpPr>
        <p:spPr>
          <a:xfrm>
            <a:off x="4450994" y="3511296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DCMM1</a:t>
            </a:r>
            <a:endParaRPr lang="en-US" sz="1150" dirty="0"/>
          </a:p>
        </p:txBody>
      </p:sp>
      <p:pic>
        <p:nvPicPr>
          <p:cNvPr id="54" name="Image 7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9071" y="3877056"/>
            <a:ext cx="402336" cy="563270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4804207" y="4486046"/>
            <a:ext cx="512064" cy="173736"/>
          </a:xfrm>
          <a:prstGeom prst="roundRect">
            <a:avLst>
              <a:gd name="adj" fmla="val 47368"/>
            </a:avLst>
          </a:prstGeom>
          <a:solidFill>
            <a:srgbClr val="EC7000"/>
          </a:solidFill>
          <a:ln/>
        </p:spPr>
      </p:sp>
      <p:sp>
        <p:nvSpPr>
          <p:cNvPr id="56" name="Text 46"/>
          <p:cNvSpPr/>
          <p:nvPr/>
        </p:nvSpPr>
        <p:spPr>
          <a:xfrm>
            <a:off x="4804207" y="4486046"/>
            <a:ext cx="512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900" dirty="0"/>
          </a:p>
        </p:txBody>
      </p:sp>
      <p:pic>
        <p:nvPicPr>
          <p:cNvPr id="57" name="Image 8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4680" y="3877056"/>
            <a:ext cx="402336" cy="563270"/>
          </a:xfrm>
          <a:prstGeom prst="rect">
            <a:avLst/>
          </a:prstGeom>
        </p:spPr>
      </p:pic>
      <p:sp>
        <p:nvSpPr>
          <p:cNvPr id="58" name="Shape 47"/>
          <p:cNvSpPr/>
          <p:nvPr/>
        </p:nvSpPr>
        <p:spPr>
          <a:xfrm>
            <a:off x="5839816" y="4486046"/>
            <a:ext cx="512064" cy="173736"/>
          </a:xfrm>
          <a:prstGeom prst="roundRect">
            <a:avLst>
              <a:gd name="adj" fmla="val 47368"/>
            </a:avLst>
          </a:prstGeom>
          <a:solidFill>
            <a:srgbClr val="EC7000"/>
          </a:solidFill>
          <a:ln/>
        </p:spPr>
      </p:sp>
      <p:sp>
        <p:nvSpPr>
          <p:cNvPr id="59" name="Text 48"/>
          <p:cNvSpPr/>
          <p:nvPr/>
        </p:nvSpPr>
        <p:spPr>
          <a:xfrm>
            <a:off x="5839816" y="4486046"/>
            <a:ext cx="512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900" dirty="0"/>
          </a:p>
        </p:txBody>
      </p:sp>
      <p:pic>
        <p:nvPicPr>
          <p:cNvPr id="60" name="Image 9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0288" y="3877056"/>
            <a:ext cx="402336" cy="563270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6875424" y="4486046"/>
            <a:ext cx="512064" cy="173736"/>
          </a:xfrm>
          <a:prstGeom prst="roundRect">
            <a:avLst>
              <a:gd name="adj" fmla="val 47368"/>
            </a:avLst>
          </a:prstGeom>
          <a:solidFill>
            <a:srgbClr val="EC7000"/>
          </a:solidFill>
          <a:ln/>
        </p:spPr>
      </p:sp>
      <p:sp>
        <p:nvSpPr>
          <p:cNvPr id="62" name="Text 50"/>
          <p:cNvSpPr/>
          <p:nvPr/>
        </p:nvSpPr>
        <p:spPr>
          <a:xfrm>
            <a:off x="6875424" y="4486046"/>
            <a:ext cx="512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900" dirty="0"/>
          </a:p>
        </p:txBody>
      </p:sp>
      <p:sp>
        <p:nvSpPr>
          <p:cNvPr id="63" name="Shape 51"/>
          <p:cNvSpPr/>
          <p:nvPr/>
        </p:nvSpPr>
        <p:spPr>
          <a:xfrm>
            <a:off x="8234477" y="3419856"/>
            <a:ext cx="3545738" cy="1298448"/>
          </a:xfrm>
          <a:prstGeom prst="roundRect">
            <a:avLst>
              <a:gd name="adj" fmla="val 3521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8362493" y="3511296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</p:sp>
      <p:sp>
        <p:nvSpPr>
          <p:cNvPr id="65" name="Text 53"/>
          <p:cNvSpPr/>
          <p:nvPr/>
        </p:nvSpPr>
        <p:spPr>
          <a:xfrm>
            <a:off x="8362493" y="3511296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DCMM2</a:t>
            </a:r>
            <a:endParaRPr lang="en-US" sz="1150" dirty="0"/>
          </a:p>
        </p:txBody>
      </p:sp>
      <p:pic>
        <p:nvPicPr>
          <p:cNvPr id="66" name="Image 10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0569" y="3877056"/>
            <a:ext cx="402336" cy="563270"/>
          </a:xfrm>
          <a:prstGeom prst="rect">
            <a:avLst/>
          </a:prstGeom>
        </p:spPr>
      </p:pic>
      <p:sp>
        <p:nvSpPr>
          <p:cNvPr id="67" name="Shape 54"/>
          <p:cNvSpPr/>
          <p:nvPr/>
        </p:nvSpPr>
        <p:spPr>
          <a:xfrm>
            <a:off x="8715705" y="4486046"/>
            <a:ext cx="512064" cy="173736"/>
          </a:xfrm>
          <a:prstGeom prst="roundRect">
            <a:avLst>
              <a:gd name="adj" fmla="val 47368"/>
            </a:avLst>
          </a:prstGeom>
          <a:solidFill>
            <a:srgbClr val="EC7000"/>
          </a:solidFill>
          <a:ln/>
        </p:spPr>
      </p:sp>
      <p:sp>
        <p:nvSpPr>
          <p:cNvPr id="68" name="Text 55"/>
          <p:cNvSpPr/>
          <p:nvPr/>
        </p:nvSpPr>
        <p:spPr>
          <a:xfrm>
            <a:off x="8715705" y="4486046"/>
            <a:ext cx="512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900" dirty="0"/>
          </a:p>
        </p:txBody>
      </p:sp>
      <p:pic>
        <p:nvPicPr>
          <p:cNvPr id="69" name="Image 11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6178" y="3877056"/>
            <a:ext cx="402336" cy="56327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9751314" y="4486046"/>
            <a:ext cx="512064" cy="173736"/>
          </a:xfrm>
          <a:prstGeom prst="roundRect">
            <a:avLst>
              <a:gd name="adj" fmla="val 47368"/>
            </a:avLst>
          </a:prstGeom>
          <a:solidFill>
            <a:srgbClr val="EC7000"/>
          </a:solidFill>
          <a:ln/>
        </p:spPr>
      </p:sp>
      <p:sp>
        <p:nvSpPr>
          <p:cNvPr id="71" name="Text 57"/>
          <p:cNvSpPr/>
          <p:nvPr/>
        </p:nvSpPr>
        <p:spPr>
          <a:xfrm>
            <a:off x="9751314" y="4486046"/>
            <a:ext cx="512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900" dirty="0"/>
          </a:p>
        </p:txBody>
      </p:sp>
      <p:pic>
        <p:nvPicPr>
          <p:cNvPr id="72" name="Image 12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1787" y="3877056"/>
            <a:ext cx="402336" cy="563270"/>
          </a:xfrm>
          <a:prstGeom prst="rect">
            <a:avLst/>
          </a:prstGeom>
        </p:spPr>
      </p:pic>
      <p:sp>
        <p:nvSpPr>
          <p:cNvPr id="73" name="Shape 58"/>
          <p:cNvSpPr/>
          <p:nvPr/>
        </p:nvSpPr>
        <p:spPr>
          <a:xfrm>
            <a:off x="10786923" y="4486046"/>
            <a:ext cx="512064" cy="173736"/>
          </a:xfrm>
          <a:prstGeom prst="roundRect">
            <a:avLst>
              <a:gd name="adj" fmla="val 47368"/>
            </a:avLst>
          </a:prstGeom>
          <a:solidFill>
            <a:srgbClr val="EC7000"/>
          </a:solidFill>
          <a:ln/>
        </p:spPr>
      </p:sp>
      <p:sp>
        <p:nvSpPr>
          <p:cNvPr id="74" name="Text 59"/>
          <p:cNvSpPr/>
          <p:nvPr/>
        </p:nvSpPr>
        <p:spPr>
          <a:xfrm>
            <a:off x="10786923" y="4486046"/>
            <a:ext cx="5120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900" dirty="0"/>
          </a:p>
        </p:txBody>
      </p:sp>
      <p:sp>
        <p:nvSpPr>
          <p:cNvPr id="75" name="Shape 60"/>
          <p:cNvSpPr/>
          <p:nvPr/>
        </p:nvSpPr>
        <p:spPr>
          <a:xfrm>
            <a:off x="2184349" y="4718304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6095848" y="4718304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7" name="Shape 62"/>
          <p:cNvSpPr/>
          <p:nvPr/>
        </p:nvSpPr>
        <p:spPr>
          <a:xfrm>
            <a:off x="10007346" y="4718304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>
            <a:off x="2184349" y="4901184"/>
            <a:ext cx="7822997" cy="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9" name="Shape 64"/>
          <p:cNvSpPr/>
          <p:nvPr/>
        </p:nvSpPr>
        <p:spPr>
          <a:xfrm>
            <a:off x="3291840" y="4901184"/>
            <a:ext cx="0" cy="262924"/>
          </a:xfrm>
          <a:prstGeom prst="line">
            <a:avLst/>
          </a:prstGeom>
          <a:noFill/>
          <a:ln w="3810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80" name="Shape 65"/>
          <p:cNvSpPr/>
          <p:nvPr/>
        </p:nvSpPr>
        <p:spPr>
          <a:xfrm>
            <a:off x="1234440" y="5164108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002C5F"/>
            </a:solidFill>
            <a:prstDash val="solid"/>
          </a:ln>
          <a:effectLst>
            <a:outerShdw blurRad="76200" dist="25400" dir="5400000" algn="bl" rotWithShape="0">
              <a:srgbClr val="9AA6B4">
                <a:alpha val="20000"/>
              </a:srgbClr>
            </a:outerShdw>
          </a:effectLst>
        </p:spPr>
      </p:sp>
      <p:pic>
        <p:nvPicPr>
          <p:cNvPr id="81" name="Image 13" descr="/home/claude/mip/ic/mainfra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0472" y="5511580"/>
            <a:ext cx="603504" cy="566928"/>
          </a:xfrm>
          <a:prstGeom prst="rect">
            <a:avLst/>
          </a:prstGeom>
        </p:spPr>
      </p:pic>
      <p:sp>
        <p:nvSpPr>
          <p:cNvPr id="82" name="Text 66"/>
          <p:cNvSpPr/>
          <p:nvPr/>
        </p:nvSpPr>
        <p:spPr>
          <a:xfrm>
            <a:off x="2258568" y="54750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</a:t>
            </a:r>
            <a:endParaRPr lang="en-US" sz="1450" dirty="0"/>
          </a:p>
        </p:txBody>
      </p:sp>
      <p:sp>
        <p:nvSpPr>
          <p:cNvPr id="83" name="Text 67"/>
          <p:cNvSpPr/>
          <p:nvPr/>
        </p:nvSpPr>
        <p:spPr>
          <a:xfrm>
            <a:off x="2258568" y="58407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· CICS  · Z2</a:t>
            </a:r>
            <a:endParaRPr lang="en-US" sz="1200" dirty="0"/>
          </a:p>
        </p:txBody>
      </p:sp>
      <p:pic>
        <p:nvPicPr>
          <p:cNvPr id="84" name="Image 14" descr="/home/claude/mip/ic/mq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7588" y="5422550"/>
            <a:ext cx="512064" cy="219456"/>
          </a:xfrm>
          <a:prstGeom prst="rect">
            <a:avLst/>
          </a:prstGeom>
        </p:spPr>
      </p:pic>
      <p:sp>
        <p:nvSpPr>
          <p:cNvPr id="85" name="Text 68"/>
          <p:cNvSpPr/>
          <p:nvPr/>
        </p:nvSpPr>
        <p:spPr>
          <a:xfrm>
            <a:off x="5463540" y="56785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</a:t>
            </a:r>
            <a:endParaRPr lang="en-US" sz="1100" dirty="0"/>
          </a:p>
        </p:txBody>
      </p:sp>
      <p:sp>
        <p:nvSpPr>
          <p:cNvPr id="86" name="Shape 69"/>
          <p:cNvSpPr/>
          <p:nvPr/>
        </p:nvSpPr>
        <p:spPr>
          <a:xfrm>
            <a:off x="5404104" y="5913916"/>
            <a:ext cx="1399032" cy="0"/>
          </a:xfrm>
          <a:prstGeom prst="line">
            <a:avLst/>
          </a:prstGeom>
          <a:noFill/>
          <a:ln w="3810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87" name="Text 70"/>
          <p:cNvSpPr/>
          <p:nvPr/>
        </p:nvSpPr>
        <p:spPr>
          <a:xfrm>
            <a:off x="5326380" y="60053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→ nuvem</a:t>
            </a:r>
            <a:endParaRPr lang="en-US" sz="850" dirty="0"/>
          </a:p>
        </p:txBody>
      </p:sp>
      <p:sp>
        <p:nvSpPr>
          <p:cNvPr id="88" name="Shape 71"/>
          <p:cNvSpPr/>
          <p:nvPr/>
        </p:nvSpPr>
        <p:spPr>
          <a:xfrm>
            <a:off x="6858000" y="5164108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C7000"/>
            </a:solidFill>
            <a:prstDash val="solid"/>
          </a:ln>
          <a:effectLst>
            <a:outerShdw blurRad="76200" dist="25400" dir="5400000" algn="bl" rotWithShape="0">
              <a:srgbClr val="9AA6B4">
                <a:alpha val="20000"/>
              </a:srgbClr>
            </a:outerShdw>
          </a:effectLst>
        </p:spPr>
      </p:sp>
      <p:pic>
        <p:nvPicPr>
          <p:cNvPr id="89" name="Image 15" descr="/home/claude/mip/ic/clou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4032" y="5548156"/>
            <a:ext cx="749808" cy="484632"/>
          </a:xfrm>
          <a:prstGeom prst="rect">
            <a:avLst/>
          </a:prstGeom>
        </p:spPr>
      </p:pic>
      <p:sp>
        <p:nvSpPr>
          <p:cNvPr id="90" name="Text 72"/>
          <p:cNvSpPr/>
          <p:nvPr/>
        </p:nvSpPr>
        <p:spPr>
          <a:xfrm>
            <a:off x="8010144" y="54750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AWS</a:t>
            </a:r>
            <a:endParaRPr lang="en-US" sz="1450" dirty="0"/>
          </a:p>
        </p:txBody>
      </p:sp>
      <p:sp>
        <p:nvSpPr>
          <p:cNvPr id="91" name="Text 73"/>
          <p:cNvSpPr/>
          <p:nvPr/>
        </p:nvSpPr>
        <p:spPr>
          <a:xfrm>
            <a:off x="8010144" y="58407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</a:t>
            </a:r>
            <a:r>
              <a:rPr lang="en-US" sz="11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</a:t>
            </a:r>
            <a:r>
              <a:rPr lang="en-US" sz="11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Modernizado</a:t>
            </a:r>
            <a:endParaRPr lang="en-US" sz="1150" dirty="0"/>
          </a:p>
        </p:txBody>
      </p:sp>
      <p:sp>
        <p:nvSpPr>
          <p:cNvPr id="92" name="Text 74"/>
          <p:cNvSpPr/>
          <p:nvPr/>
        </p:nvSpPr>
        <p:spPr>
          <a:xfrm>
            <a:off x="411480" y="645566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Interface Processor (MIP)  ·  Autorizador de Débito  ·  Itaú Unibanco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144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 - Topologia Atual</dc:title>
  <dc:subject>PptxGenJS Presentation</dc:subject>
  <dc:creator>PptxGenJS</dc:creator>
  <cp:lastModifiedBy>MARCELO GABRIEL</cp:lastModifiedBy>
  <cp:revision>5</cp:revision>
  <dcterms:created xsi:type="dcterms:W3CDTF">2026-07-06T20:07:19Z</dcterms:created>
  <dcterms:modified xsi:type="dcterms:W3CDTF">2026-07-06T20:28:13Z</dcterms:modified>
</cp:coreProperties>
</file>