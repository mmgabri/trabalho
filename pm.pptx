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35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1789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POSTMORTEM</a:t>
            </a:r>
            <a:r>
              <a:rPr lang="en-US" sz="2000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Troca de Chaves Mastercard | Ativação Porta 7004/Cloud (MIP J2)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4864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de ativação do novo Router Cloud — 16/07/2026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557784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  <a:effectLst>
            <a:outerShdw blurRad="50800" dist="12700" dir="5400000" algn="bl" rotWithShape="0">
              <a:srgbClr val="AAAAAA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1208" y="969264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AO NEGÓCIO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76072" y="1261872"/>
            <a:ext cx="524865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buSzPct val="100000"/>
              <a:buChar char="•"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Madrugada (02:17 às 02:34):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na validação de senha nas transações oriundas da porta 6004/CICS de todos os MIPs — volumetria: 431 casos.</a:t>
            </a:r>
            <a:endParaRPr lang="en-US" sz="1050" dirty="0"/>
          </a:p>
          <a:p>
            <a:pPr marL="127000" indent="-127000" algn="l">
              <a:buSzPct val="100000"/>
              <a:buChar char="•"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Manhã (08:56 às 10:19):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na validação de senha nas transações oriundas da porta 7004/Cloud do MIP J2 — volumetria: 15 casos.</a:t>
            </a:r>
            <a:endParaRPr lang="en-US" sz="1050" dirty="0"/>
          </a:p>
          <a:p>
            <a:pPr marL="127000" indent="-127000" algn="l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514 casos de erro na validação de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2697480"/>
            <a:ext cx="55778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  <a:effectLst>
            <a:outerShdw blurRad="50800" dist="12700" dir="5400000" algn="bl" rotWithShape="0">
              <a:srgbClr val="AAAAA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21208" y="2752344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RAIZ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3044952"/>
            <a:ext cx="524865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FontTx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token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segregado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porta.</a:t>
            </a:r>
            <a:endParaRPr lang="en-US" sz="1050" dirty="0"/>
          </a:p>
          <a:p>
            <a:pPr marL="127000" indent="-127000" algn="l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troca de chaves recebida na porta 7004 sobrepõe o token da porta 6004 — e vice-versa.</a:t>
            </a:r>
            <a:endParaRPr lang="en-US" sz="1050" b="1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27000" indent="-127000">
              <a:buSzPct val="100000"/>
              <a:buChar char="•"/>
            </a:pPr>
            <a:r>
              <a:rPr lang="pt-BR" sz="1050" dirty="0"/>
              <a:t>Resumindo: As chaves das duas portas não convivem: a troca de chaves em uma porta sempre quebra a validação de senha das transações da outra.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4663440"/>
            <a:ext cx="55778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  <a:effectLst>
            <a:outerShdw blurRad="50800" dist="12700" dir="5400000" algn="bl" rotWithShape="0">
              <a:srgbClr val="AAAAAA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" y="4718304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CONTRIBUINTES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" y="5010912"/>
            <a:ext cx="524865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 acreditado na bandeira: que com o signoff não chegariam mais transações na 7004/cloud — comportamento também descrito no manual — mas às 08:56 chegou um ECHO e o tráfego voltou.</a:t>
            </a:r>
            <a:endParaRPr lang="en-US" sz="1000" dirty="0"/>
          </a:p>
          <a:p>
            <a:pPr marL="127000" indent="-1270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 </a:t>
            </a:r>
            <a:r>
              <a:rPr lang="en-US" sz="10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acreditado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bandeira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chave PEK era única para as duas portas — nas reuniões de alinhamento foi dito que não precisava segregar.</a:t>
            </a:r>
            <a:endParaRPr lang="en-US" sz="1000" dirty="0"/>
          </a:p>
          <a:p>
            <a:pPr marL="127000" indent="-1270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ter registrado essas premissas em nenhum lugar.</a:t>
            </a:r>
            <a:endParaRPr lang="en-US" sz="1000" dirty="0"/>
          </a:p>
          <a:p>
            <a:pPr marL="127000" indent="-1270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positivo: descobrimos o cenário ainda no piloto, com baixo impacto — problema restrito ao MIP J2, com 50% da volumetria (os outros 50% seguiam na porta 6004).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99632" y="914400"/>
            <a:ext cx="557784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  <a:effectLst>
            <a:outerShdw blurRad="50800" dist="12700" dir="5400000" algn="bl" rotWithShape="0">
              <a:srgbClr val="AAAAAA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969264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EM TEMPO DE INCIDENTE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64224" y="1261872"/>
            <a:ext cx="52486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buSzPct val="100000"/>
              <a:buChar char="•"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Madrugada: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chaves na porta 6004/cics (02:34) e signoff na porta 7004/cloud (MIP J2), normalizando a validação de senha.</a:t>
            </a:r>
            <a:endParaRPr lang="en-US" sz="1050" dirty="0"/>
          </a:p>
          <a:p>
            <a:pPr marL="127000" indent="-127000" algn="l">
              <a:buSzPct val="100000"/>
              <a:buChar char="•"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Manhã: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chaves na porta 6004/cics (10:19) e down na task ECS do router Mastercard.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99632" y="2697480"/>
            <a:ext cx="55778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  <a:effectLst>
            <a:outerShdw blurRad="50800" dist="12700" dir="5400000" algn="bl" rotWithShape="0">
              <a:srgbClr val="AAAAAA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2738538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AÇÃO DEFINITIVO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64224" y="3151918"/>
            <a:ext cx="5248656" cy="1374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FontTx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Segregar o armazenamento do token gerado na transação de troca de chaves, pois a chave PEK é distinta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porta </a:t>
            </a:r>
            <a:r>
              <a:rPr lang="pt-BR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(já em andamento). </a:t>
            </a:r>
            <a:endParaRPr lang="en-US" sz="105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pt-BR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com a Mastercard por que foram enviadas transações na porta 7004/cloud mesmo com o </a:t>
            </a:r>
            <a:r>
              <a:rPr lang="pt-BR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signoff</a:t>
            </a:r>
            <a:r>
              <a:rPr lang="pt-BR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realizado (já em andamento). </a:t>
            </a:r>
          </a:p>
          <a:p>
            <a:pPr marL="127000" indent="-127000">
              <a:spcAft>
                <a:spcPts val="400"/>
              </a:spcAft>
              <a:buSzPct val="100000"/>
              <a:buFontTx/>
              <a:buChar char="•"/>
            </a:pPr>
            <a:r>
              <a:rPr lang="pt-BR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com a Mastercard por que, após o envio do ECHO, transações voltaram a chegar na porta 7004/cloud, sem que tenha sido feito o </a:t>
            </a:r>
            <a:r>
              <a:rPr lang="pt-BR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signon</a:t>
            </a:r>
            <a:r>
              <a:rPr lang="pt-BR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/ativação da porta (já em andamento). </a:t>
            </a:r>
            <a:endParaRPr lang="en-US" sz="105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27000" indent="-127000" algn="l">
              <a:spcAft>
                <a:spcPts val="400"/>
              </a:spcAft>
              <a:buSzPct val="100000"/>
              <a:buChar char="•"/>
            </a:pP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99632" y="4663440"/>
            <a:ext cx="55778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  <a:effectLst>
            <a:outerShdw blurRad="50800" dist="12700" dir="5400000" algn="bl" rotWithShape="0">
              <a:srgbClr val="AAAAAA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4745040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64224" y="5129784"/>
            <a:ext cx="524865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formalmente as premissas e confirmações da bandeira (chaves, comportamento de signoff, segregação por porta).</a:t>
            </a:r>
            <a:endParaRPr lang="en-US" sz="1050" dirty="0"/>
          </a:p>
          <a:p>
            <a:pPr marL="127000" indent="-127000" algn="l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o comportamento da troca de chaves por porta em ambiente de teste antes de um novo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</a:t>
            </a:r>
            <a:r>
              <a:rPr lang="en-US" sz="2200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16/07/2026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3566160"/>
            <a:ext cx="10881360" cy="0"/>
          </a:xfrm>
          <a:prstGeom prst="line">
            <a:avLst/>
          </a:prstGeom>
          <a:noFill/>
          <a:ln w="31750">
            <a:solidFill>
              <a:srgbClr val="002C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" y="3483864"/>
            <a:ext cx="164592" cy="164592"/>
          </a:xfrm>
          <a:prstGeom prst="ellipse">
            <a:avLst/>
          </a:prstGeom>
          <a:solidFill>
            <a:srgbClr val="002C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3246120"/>
            <a:ext cx="0" cy="237744"/>
          </a:xfrm>
          <a:prstGeom prst="line">
            <a:avLst/>
          </a:prstGeom>
          <a:noFill/>
          <a:ln w="12700">
            <a:solidFill>
              <a:srgbClr val="002C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" y="1463040"/>
            <a:ext cx="1783080" cy="1783080"/>
          </a:xfrm>
          <a:prstGeom prst="roundRect">
            <a:avLst>
              <a:gd name="adj" fmla="val 2564"/>
            </a:avLst>
          </a:prstGeom>
          <a:solidFill>
            <a:srgbClr val="F7F7F7"/>
          </a:solidFill>
          <a:ln w="12700">
            <a:solidFill>
              <a:srgbClr val="002C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" y="1517904"/>
            <a:ext cx="163677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02:17
</a:t>
            </a: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da porta 7004/cloud
</a:t>
            </a: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ativada com sucesso no MIP J2. Após o signon, transações passam a chegar nas duas portas (50%-50%). Mastercard envia a transação de troca de chaves.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35224" y="3483864"/>
            <a:ext cx="164592" cy="164592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3648456"/>
            <a:ext cx="0" cy="237744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25980" y="3886200"/>
            <a:ext cx="1783080" cy="1783080"/>
          </a:xfrm>
          <a:prstGeom prst="roundRect">
            <a:avLst>
              <a:gd name="adj" fmla="val 2564"/>
            </a:avLst>
          </a:prstGeom>
          <a:solidFill>
            <a:srgbClr val="F7F7F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9132" y="3941064"/>
            <a:ext cx="163677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02:17–02:34
</a:t>
            </a: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dos erros (431 casos)
</a:t>
            </a: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das transações com senha vindas da porta 6004/cics passam a dar erro na validação de senha.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01184" y="3483864"/>
            <a:ext cx="164592" cy="164592"/>
          </a:xfrm>
          <a:prstGeom prst="ellipse">
            <a:avLst/>
          </a:prstGeom>
          <a:solidFill>
            <a:srgbClr val="1E844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83480" y="3246120"/>
            <a:ext cx="0" cy="237744"/>
          </a:xfrm>
          <a:prstGeom prst="line">
            <a:avLst/>
          </a:prstGeom>
          <a:noFill/>
          <a:ln w="12700">
            <a:solidFill>
              <a:srgbClr val="1E84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91940" y="1463040"/>
            <a:ext cx="1783080" cy="1783080"/>
          </a:xfrm>
          <a:prstGeom prst="roundRect">
            <a:avLst>
              <a:gd name="adj" fmla="val 2564"/>
            </a:avLst>
          </a:prstGeom>
          <a:solidFill>
            <a:srgbClr val="F7F7F7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5092" y="1517904"/>
            <a:ext cx="163677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02:34
</a:t>
            </a: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 + signoff
</a:t>
            </a: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envia troca de chaves na porta 6004/cics, resolvendo o problema. Enviado signoff na 7004/cloud; bandeira garante que nenhuma transação seria enviada nessa porta.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67144" y="3483864"/>
            <a:ext cx="164592" cy="164592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3648456"/>
            <a:ext cx="0" cy="237744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57900" y="3886200"/>
            <a:ext cx="1783080" cy="1783080"/>
          </a:xfrm>
          <a:prstGeom prst="roundRect">
            <a:avLst>
              <a:gd name="adj" fmla="val 2564"/>
            </a:avLst>
          </a:prstGeom>
          <a:solidFill>
            <a:srgbClr val="F7F7F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31052" y="3941064"/>
            <a:ext cx="163677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08:56
</a:t>
            </a: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Reincidência via ECHO
</a:t>
            </a: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envia transação de ECHO na porta 7004/cloud para o MIP J2. Transações voltam a chegar na porta e os erros de validação de senha retornam.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33104" y="3483864"/>
            <a:ext cx="164592" cy="164592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15400" y="3246120"/>
            <a:ext cx="0" cy="237744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23860" y="1463040"/>
            <a:ext cx="1783080" cy="1783080"/>
          </a:xfrm>
          <a:prstGeom prst="roundRect">
            <a:avLst>
              <a:gd name="adj" fmla="val 2564"/>
            </a:avLst>
          </a:prstGeom>
          <a:solidFill>
            <a:srgbClr val="F7F7F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97012" y="1517904"/>
            <a:ext cx="163677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08:56–10:19
</a:t>
            </a: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janela (15 casos)
</a:t>
            </a: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com senha voltam a dar erro na validação até a nova troca de chaves.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799064" y="3483864"/>
            <a:ext cx="164592" cy="164592"/>
          </a:xfrm>
          <a:prstGeom prst="ellipse">
            <a:avLst/>
          </a:prstGeom>
          <a:solidFill>
            <a:srgbClr val="1E844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81360" y="3648456"/>
            <a:ext cx="0" cy="237744"/>
          </a:xfrm>
          <a:prstGeom prst="line">
            <a:avLst/>
          </a:prstGeom>
          <a:noFill/>
          <a:ln w="12700">
            <a:solidFill>
              <a:srgbClr val="1E84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89820" y="3886200"/>
            <a:ext cx="1783080" cy="1783080"/>
          </a:xfrm>
          <a:prstGeom prst="roundRect">
            <a:avLst>
              <a:gd name="adj" fmla="val 2564"/>
            </a:avLst>
          </a:prstGeom>
          <a:solidFill>
            <a:srgbClr val="F7F7F7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62972" y="3941064"/>
            <a:ext cx="163677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10:19
</a:t>
            </a: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definitiva do dia
</a:t>
            </a: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envia troca de chaves na porta 6004/cics, resolvendo o problema. Efetuado down na task ECS do router Mastercard.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640080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 incidente: 514 casos de erro na validação de senha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ACONTECEU</a:t>
            </a:r>
            <a:r>
              <a:rPr lang="en-US" sz="2000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chave PEK compartilhada entre as portas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8421"/>
            <a:ext cx="5623560" cy="5806440"/>
          </a:xfrm>
          <a:prstGeom prst="roundRect">
            <a:avLst>
              <a:gd name="adj" fmla="val 976"/>
            </a:avLst>
          </a:prstGeom>
          <a:solidFill>
            <a:srgbClr val="FDF3EC"/>
          </a:solidFill>
          <a:ln w="12700">
            <a:solidFill>
              <a:srgbClr val="EC7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412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— armazenamento único do token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0" y="128016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002C5F"/>
          </a:solidFill>
          <a:ln w="15875">
            <a:solidFill>
              <a:srgbClr val="002C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40864" y="128016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flipH="1">
            <a:off x="1920240" y="1828800"/>
            <a:ext cx="731520" cy="777240"/>
          </a:xfrm>
          <a:prstGeom prst="line">
            <a:avLst/>
          </a:prstGeom>
          <a:noFill/>
          <a:ln w="222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49040" y="1828800"/>
            <a:ext cx="868680" cy="777240"/>
          </a:xfrm>
          <a:prstGeom prst="line">
            <a:avLst/>
          </a:prstGeom>
          <a:noFill/>
          <a:ln w="222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77240" y="1993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+ senha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434840" y="1920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chaves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(nova chave PEK)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260604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" y="2606040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6004/CICS
</a:t>
            </a: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 (on-premise)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66160" y="260604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21024" y="2606040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7004/Cloud
</a:t>
            </a: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MIP J2 (AWS/ECS)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828800" y="3291840"/>
            <a:ext cx="914400" cy="640080"/>
          </a:xfrm>
          <a:prstGeom prst="line">
            <a:avLst/>
          </a:prstGeom>
          <a:noFill/>
          <a:ln w="222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3931920" y="3291840"/>
            <a:ext cx="685800" cy="640080"/>
          </a:xfrm>
          <a:prstGeom prst="line">
            <a:avLst/>
          </a:prstGeom>
          <a:noFill/>
          <a:ln w="22225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965960" y="3931920"/>
            <a:ext cx="2514600" cy="731520"/>
          </a:xfrm>
          <a:prstGeom prst="roundRect">
            <a:avLst>
              <a:gd name="adj" fmla="val 7500"/>
            </a:avLst>
          </a:prstGeom>
          <a:solidFill>
            <a:srgbClr val="C0392B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20824" y="3931920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ÚNICO
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/ chave PEK compartilhado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" y="48920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troca de chaves recebida pela 7004/cloud </a:t>
            </a:r>
            <a:r>
              <a:rPr lang="en-US" sz="10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sobrescreve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token </a:t>
            </a:r>
            <a:r>
              <a:rPr lang="en-US" sz="10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armazenado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As transações com senha da 6004/cics passam a ser validadas com token </a:t>
            </a:r>
            <a:r>
              <a:rPr lang="en-US" sz="10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errado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erro na validação de senha (514 casos).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58064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Contorno: </a:t>
            </a: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signoff na 7004/cloud + troca de chaves na 6004/cics. Insuficiente: o ECHO da bandeira às 08:56 reativou o tráfego na porta.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731520"/>
            <a:ext cx="5623560" cy="5806440"/>
          </a:xfrm>
          <a:prstGeom prst="roundRect">
            <a:avLst>
              <a:gd name="adj" fmla="val 976"/>
            </a:avLst>
          </a:prstGeom>
          <a:solidFill>
            <a:srgbClr val="EEF6F0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8412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— token segregado por porta (plano definitivo)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46720" y="128016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002C5F"/>
          </a:solidFill>
          <a:ln w="15875">
            <a:solidFill>
              <a:srgbClr val="002C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01584" y="128016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flipH="1">
            <a:off x="7589520" y="1828800"/>
            <a:ext cx="822960" cy="777240"/>
          </a:xfrm>
          <a:prstGeom prst="line">
            <a:avLst/>
          </a:prstGeom>
          <a:noFill/>
          <a:ln w="222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509760" y="1828800"/>
            <a:ext cx="868680" cy="777240"/>
          </a:xfrm>
          <a:prstGeom prst="line">
            <a:avLst/>
          </a:prstGeom>
          <a:noFill/>
          <a:ln w="222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720840" y="1920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chaves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porta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195560" y="1920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chaves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porta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537960" y="260604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92824" y="2606040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6004/CICS
</a:t>
            </a: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 (on-premise)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326880" y="260604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81744" y="2606040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7004/Cloud
</a:t>
            </a: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MIP J2 (AWS/ECS)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589520" y="3291840"/>
            <a:ext cx="0" cy="640080"/>
          </a:xfrm>
          <a:prstGeom prst="line">
            <a:avLst/>
          </a:prstGeom>
          <a:noFill/>
          <a:ln w="22225">
            <a:solidFill>
              <a:srgbClr val="1E844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378440" y="3291840"/>
            <a:ext cx="0" cy="640080"/>
          </a:xfrm>
          <a:prstGeom prst="line">
            <a:avLst/>
          </a:prstGeom>
          <a:noFill/>
          <a:ln w="22225">
            <a:solidFill>
              <a:srgbClr val="1E844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537960" y="393192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1E8449"/>
          </a:solidFill>
          <a:ln w="15875">
            <a:solidFill>
              <a:srgbClr val="1E84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92824" y="393192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/ chave PEK
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exclusivo da porta 6004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326880" y="393192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1E8449"/>
          </a:solidFill>
          <a:ln w="15875">
            <a:solidFill>
              <a:srgbClr val="1E844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81744" y="393192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/ chave PEK
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exclusivo da porta 7004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46520" y="48920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porta armazena e valida com a sua própria chave PEK. A troca de chaves de uma porta não interfere na validação de senha da outra.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46520" y="5806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</a:t>
            </a: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da segregação no MIP J2 e novo piloto na próxima quinta-feira.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913</Words>
  <Application>Microsoft Office PowerPoint</Application>
  <PresentationFormat>Widescreen</PresentationFormat>
  <Paragraphs>59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MARCELO GABRIEL</cp:lastModifiedBy>
  <cp:revision>5</cp:revision>
  <dcterms:created xsi:type="dcterms:W3CDTF">2026-07-20T11:39:10Z</dcterms:created>
  <dcterms:modified xsi:type="dcterms:W3CDTF">2026-07-20T12:03:35Z</dcterms:modified>
</cp:coreProperties>
</file>