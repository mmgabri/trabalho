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"/>
  </p:notesMasterIdLst>
  <p:sldIdLst>
    <p:sldId id="256" r:id="rId2"/>
    <p:sldId id="257" r:id="rId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120" d="100"/>
          <a:sy n="120" d="100"/>
        </p:scale>
        <p:origin x="198" y="-1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9301600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10" Type="http://schemas.openxmlformats.org/officeDocument/2006/relationships/image" Target="../media/image8.png"/><Relationship Id="rId4" Type="http://schemas.openxmlformats.org/officeDocument/2006/relationships/image" Target="../media/image2.png"/><Relationship Id="rId9" Type="http://schemas.openxmlformats.org/officeDocument/2006/relationships/image" Target="../media/image7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png"/><Relationship Id="rId4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256032"/>
            <a:ext cx="11368735" cy="786384"/>
          </a:xfrm>
          <a:prstGeom prst="roundRect">
            <a:avLst>
              <a:gd name="adj" fmla="val 6977"/>
            </a:avLst>
          </a:prstGeom>
          <a:solidFill>
            <a:srgbClr val="002C5F"/>
          </a:solidFill>
          <a:ln/>
        </p:spPr>
      </p:sp>
      <p:sp>
        <p:nvSpPr>
          <p:cNvPr id="3" name="Text 1"/>
          <p:cNvSpPr/>
          <p:nvPr/>
        </p:nvSpPr>
        <p:spPr>
          <a:xfrm>
            <a:off x="649224" y="301752"/>
            <a:ext cx="7863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MIP — Topologia Atual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667512" y="72237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Fluxo de autorização (4 partes) e a infraestrutura atual do Emissor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8780983" y="457200"/>
            <a:ext cx="2743200" cy="384048"/>
          </a:xfrm>
          <a:prstGeom prst="roundRect">
            <a:avLst>
              <a:gd name="adj" fmla="val 50000"/>
            </a:avLst>
          </a:prstGeom>
          <a:solidFill>
            <a:srgbClr val="EC7000"/>
          </a:solidFill>
          <a:ln/>
        </p:spPr>
      </p:sp>
      <p:sp>
        <p:nvSpPr>
          <p:cNvPr id="6" name="Text 4"/>
          <p:cNvSpPr/>
          <p:nvPr/>
        </p:nvSpPr>
        <p:spPr>
          <a:xfrm>
            <a:off x="8780983" y="457200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Topologia Atual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11480" y="1115568"/>
            <a:ext cx="11368735" cy="530352"/>
          </a:xfrm>
          <a:prstGeom prst="roundRect">
            <a:avLst>
              <a:gd name="adj" fmla="val 8621"/>
            </a:avLst>
          </a:prstGeom>
          <a:solidFill>
            <a:srgbClr val="F4F6F9"/>
          </a:solidFill>
          <a:ln w="12700">
            <a:solidFill>
              <a:srgbClr val="D9DEE5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94360" y="1225296"/>
            <a:ext cx="310896" cy="310896"/>
          </a:xfrm>
          <a:prstGeom prst="roundRect">
            <a:avLst>
              <a:gd name="adj" fmla="val 14706"/>
            </a:avLst>
          </a:prstGeom>
          <a:solidFill>
            <a:srgbClr val="002C5F"/>
          </a:solidFill>
          <a:ln/>
        </p:spPr>
      </p:sp>
      <p:sp>
        <p:nvSpPr>
          <p:cNvPr id="9" name="Text 7"/>
          <p:cNvSpPr/>
          <p:nvPr/>
        </p:nvSpPr>
        <p:spPr>
          <a:xfrm>
            <a:off x="594360" y="122529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EC7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MIP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1033272" y="1133856"/>
            <a:ext cx="10545775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8000"/>
              </a:lnSpc>
              <a:buNone/>
            </a:pPr>
            <a:r>
              <a:rPr lang="en-US" sz="1150" b="1" dirty="0">
                <a:solidFill>
                  <a:srgbClr val="002C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é: </a:t>
            </a:r>
            <a:r>
              <a:rPr lang="en-US" sz="1150" dirty="0">
                <a:solidFill>
                  <a:srgbClr val="1A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gateway (hardware + software) da Mastercard no data center do Emissor. Troca mensagens ISO 8583 em tempo real entre a rede Banknet e o Autorizador (CICS) — equivalente ao VIP da Visa.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411480" y="1719072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2C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Fluxo de uma autorização — modelo 4 partes da Mastercard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11480" y="1975104"/>
            <a:ext cx="2499284" cy="82296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D9DEE5"/>
            </a:solidFill>
            <a:prstDash val="solid"/>
          </a:ln>
          <a:effectLst>
            <a:outerShdw blurRad="50800" dist="19050" dir="5400000" algn="bl" rotWithShape="0">
              <a:srgbClr val="9AA6B4">
                <a:alpha val="16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557784" y="2112264"/>
            <a:ext cx="548640" cy="548640"/>
          </a:xfrm>
          <a:prstGeom prst="ellipse">
            <a:avLst/>
          </a:prstGeom>
          <a:solidFill>
            <a:srgbClr val="002C5F"/>
          </a:solidFill>
          <a:ln/>
        </p:spPr>
      </p:sp>
      <p:pic>
        <p:nvPicPr>
          <p:cNvPr id="14" name="Image 0" descr="/home/claude/mip/ic/pers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9224" y="2203704"/>
            <a:ext cx="365760" cy="365760"/>
          </a:xfrm>
          <a:prstGeom prst="rect">
            <a:avLst/>
          </a:prstGeom>
        </p:spPr>
      </p:pic>
      <p:sp>
        <p:nvSpPr>
          <p:cNvPr id="15" name="Text 12"/>
          <p:cNvSpPr/>
          <p:nvPr/>
        </p:nvSpPr>
        <p:spPr>
          <a:xfrm>
            <a:off x="1216152" y="2139696"/>
            <a:ext cx="15848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2C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Portador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1216152" y="2432304"/>
            <a:ext cx="15848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A67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cliente / cartão</a:t>
            </a:r>
            <a:endParaRPr lang="en-US" sz="1050" dirty="0"/>
          </a:p>
        </p:txBody>
      </p:sp>
      <p:sp>
        <p:nvSpPr>
          <p:cNvPr id="17" name="Shape 14"/>
          <p:cNvSpPr/>
          <p:nvPr/>
        </p:nvSpPr>
        <p:spPr>
          <a:xfrm>
            <a:off x="2983916" y="2386584"/>
            <a:ext cx="310896" cy="0"/>
          </a:xfrm>
          <a:prstGeom prst="line">
            <a:avLst/>
          </a:prstGeom>
          <a:noFill/>
          <a:ln w="31750">
            <a:solidFill>
              <a:srgbClr val="EC7000"/>
            </a:solidFill>
            <a:prstDash val="solid"/>
            <a:tailEnd type="triangle"/>
          </a:ln>
        </p:spPr>
      </p:sp>
      <p:sp>
        <p:nvSpPr>
          <p:cNvPr id="18" name="Shape 15"/>
          <p:cNvSpPr/>
          <p:nvPr/>
        </p:nvSpPr>
        <p:spPr>
          <a:xfrm>
            <a:off x="3367964" y="1975104"/>
            <a:ext cx="2499284" cy="82296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D9DEE5"/>
            </a:solidFill>
            <a:prstDash val="solid"/>
          </a:ln>
          <a:effectLst>
            <a:outerShdw blurRad="50800" dist="19050" dir="5400000" algn="bl" rotWithShape="0">
              <a:srgbClr val="9AA6B4">
                <a:alpha val="16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3514268" y="2112264"/>
            <a:ext cx="548640" cy="548640"/>
          </a:xfrm>
          <a:prstGeom prst="ellipse">
            <a:avLst/>
          </a:prstGeom>
          <a:solidFill>
            <a:srgbClr val="002C5F"/>
          </a:solidFill>
          <a:ln/>
        </p:spPr>
      </p:sp>
      <p:pic>
        <p:nvPicPr>
          <p:cNvPr id="20" name="Image 1" descr="/home/claude/mip/ic/po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05708" y="2203704"/>
            <a:ext cx="365760" cy="365760"/>
          </a:xfrm>
          <a:prstGeom prst="rect">
            <a:avLst/>
          </a:prstGeom>
        </p:spPr>
      </p:pic>
      <p:sp>
        <p:nvSpPr>
          <p:cNvPr id="21" name="Text 17"/>
          <p:cNvSpPr/>
          <p:nvPr/>
        </p:nvSpPr>
        <p:spPr>
          <a:xfrm>
            <a:off x="4172636" y="2139696"/>
            <a:ext cx="15848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2C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Adquirente</a:t>
            </a:r>
            <a:endParaRPr lang="en-US" sz="1400" dirty="0"/>
          </a:p>
        </p:txBody>
      </p:sp>
      <p:sp>
        <p:nvSpPr>
          <p:cNvPr id="22" name="Text 18"/>
          <p:cNvSpPr/>
          <p:nvPr/>
        </p:nvSpPr>
        <p:spPr>
          <a:xfrm>
            <a:off x="4172636" y="2432304"/>
            <a:ext cx="15848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A67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captura a compra</a:t>
            </a:r>
            <a:endParaRPr lang="en-US" sz="1050" dirty="0"/>
          </a:p>
        </p:txBody>
      </p:sp>
      <p:sp>
        <p:nvSpPr>
          <p:cNvPr id="23" name="Shape 19"/>
          <p:cNvSpPr/>
          <p:nvPr/>
        </p:nvSpPr>
        <p:spPr>
          <a:xfrm>
            <a:off x="5940400" y="2386584"/>
            <a:ext cx="310896" cy="0"/>
          </a:xfrm>
          <a:prstGeom prst="line">
            <a:avLst/>
          </a:prstGeom>
          <a:noFill/>
          <a:ln w="31750">
            <a:solidFill>
              <a:srgbClr val="EC7000"/>
            </a:solidFill>
            <a:prstDash val="solid"/>
            <a:tailEnd type="triangle"/>
          </a:ln>
        </p:spPr>
      </p:sp>
      <p:sp>
        <p:nvSpPr>
          <p:cNvPr id="24" name="Shape 20"/>
          <p:cNvSpPr/>
          <p:nvPr/>
        </p:nvSpPr>
        <p:spPr>
          <a:xfrm>
            <a:off x="6324448" y="1975104"/>
            <a:ext cx="2499284" cy="82296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D9DEE5"/>
            </a:solidFill>
            <a:prstDash val="solid"/>
          </a:ln>
          <a:effectLst>
            <a:outerShdw blurRad="50800" dist="19050" dir="5400000" algn="bl" rotWithShape="0">
              <a:srgbClr val="9AA6B4">
                <a:alpha val="16000"/>
              </a:srgbClr>
            </a:outerShdw>
          </a:effectLst>
        </p:spPr>
      </p:sp>
      <p:sp>
        <p:nvSpPr>
          <p:cNvPr id="25" name="Shape 21"/>
          <p:cNvSpPr/>
          <p:nvPr/>
        </p:nvSpPr>
        <p:spPr>
          <a:xfrm>
            <a:off x="6470752" y="2112264"/>
            <a:ext cx="548640" cy="548640"/>
          </a:xfrm>
          <a:prstGeom prst="ellipse">
            <a:avLst/>
          </a:prstGeom>
          <a:solidFill>
            <a:srgbClr val="EC7000"/>
          </a:solidFill>
          <a:ln/>
        </p:spPr>
      </p:sp>
      <p:pic>
        <p:nvPicPr>
          <p:cNvPr id="26" name="Image 2" descr="/home/claude/mip/ic/glob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62192" y="2203704"/>
            <a:ext cx="365760" cy="365760"/>
          </a:xfrm>
          <a:prstGeom prst="rect">
            <a:avLst/>
          </a:prstGeom>
        </p:spPr>
      </p:pic>
      <p:sp>
        <p:nvSpPr>
          <p:cNvPr id="27" name="Text 22"/>
          <p:cNvSpPr/>
          <p:nvPr/>
        </p:nvSpPr>
        <p:spPr>
          <a:xfrm>
            <a:off x="7129120" y="2139696"/>
            <a:ext cx="15848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2C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Mastercard</a:t>
            </a:r>
            <a:endParaRPr lang="en-US" sz="1400" dirty="0"/>
          </a:p>
        </p:txBody>
      </p:sp>
      <p:sp>
        <p:nvSpPr>
          <p:cNvPr id="28" name="Text 23"/>
          <p:cNvSpPr/>
          <p:nvPr/>
        </p:nvSpPr>
        <p:spPr>
          <a:xfrm>
            <a:off x="7129120" y="2432304"/>
            <a:ext cx="15848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A67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rede Banknet</a:t>
            </a:r>
            <a:endParaRPr lang="en-US" sz="1050" dirty="0"/>
          </a:p>
        </p:txBody>
      </p:sp>
      <p:sp>
        <p:nvSpPr>
          <p:cNvPr id="29" name="Shape 24"/>
          <p:cNvSpPr/>
          <p:nvPr/>
        </p:nvSpPr>
        <p:spPr>
          <a:xfrm>
            <a:off x="8896883" y="2386584"/>
            <a:ext cx="310896" cy="0"/>
          </a:xfrm>
          <a:prstGeom prst="line">
            <a:avLst/>
          </a:prstGeom>
          <a:noFill/>
          <a:ln w="31750">
            <a:solidFill>
              <a:srgbClr val="EC7000"/>
            </a:solidFill>
            <a:prstDash val="solid"/>
            <a:tailEnd type="triangle"/>
          </a:ln>
        </p:spPr>
      </p:sp>
      <p:sp>
        <p:nvSpPr>
          <p:cNvPr id="30" name="Shape 25"/>
          <p:cNvSpPr/>
          <p:nvPr/>
        </p:nvSpPr>
        <p:spPr>
          <a:xfrm>
            <a:off x="9280931" y="1975104"/>
            <a:ext cx="2499284" cy="82296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D9DEE5"/>
            </a:solidFill>
            <a:prstDash val="solid"/>
          </a:ln>
          <a:effectLst>
            <a:outerShdw blurRad="50800" dist="19050" dir="5400000" algn="bl" rotWithShape="0">
              <a:srgbClr val="9AA6B4">
                <a:alpha val="16000"/>
              </a:srgbClr>
            </a:outerShdw>
          </a:effectLst>
        </p:spPr>
      </p:sp>
      <p:sp>
        <p:nvSpPr>
          <p:cNvPr id="31" name="Shape 26"/>
          <p:cNvSpPr/>
          <p:nvPr/>
        </p:nvSpPr>
        <p:spPr>
          <a:xfrm>
            <a:off x="9427235" y="2112264"/>
            <a:ext cx="548640" cy="548640"/>
          </a:xfrm>
          <a:prstGeom prst="ellipse">
            <a:avLst/>
          </a:prstGeom>
          <a:solidFill>
            <a:srgbClr val="002C5F"/>
          </a:solidFill>
          <a:ln/>
        </p:spPr>
      </p:sp>
      <p:pic>
        <p:nvPicPr>
          <p:cNvPr id="32" name="Image 3" descr="/home/claude/mip/ic/bank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518675" y="2203704"/>
            <a:ext cx="365760" cy="365760"/>
          </a:xfrm>
          <a:prstGeom prst="rect">
            <a:avLst/>
          </a:prstGeom>
        </p:spPr>
      </p:pic>
      <p:sp>
        <p:nvSpPr>
          <p:cNvPr id="33" name="Text 27"/>
          <p:cNvSpPr/>
          <p:nvPr/>
        </p:nvSpPr>
        <p:spPr>
          <a:xfrm>
            <a:off x="10085603" y="2139696"/>
            <a:ext cx="15848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2C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Emissor</a:t>
            </a:r>
            <a:endParaRPr lang="en-US" sz="1400" dirty="0"/>
          </a:p>
        </p:txBody>
      </p:sp>
      <p:sp>
        <p:nvSpPr>
          <p:cNvPr id="34" name="Text 28"/>
          <p:cNvSpPr/>
          <p:nvPr/>
        </p:nvSpPr>
        <p:spPr>
          <a:xfrm>
            <a:off x="10085603" y="2432304"/>
            <a:ext cx="15848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A67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Itaú · autoriza</a:t>
            </a:r>
            <a:endParaRPr lang="en-US" sz="1050" dirty="0"/>
          </a:p>
        </p:txBody>
      </p:sp>
      <p:sp>
        <p:nvSpPr>
          <p:cNvPr id="35" name="Shape 29"/>
          <p:cNvSpPr/>
          <p:nvPr/>
        </p:nvSpPr>
        <p:spPr>
          <a:xfrm>
            <a:off x="10530573" y="2816352"/>
            <a:ext cx="0" cy="219456"/>
          </a:xfrm>
          <a:prstGeom prst="line">
            <a:avLst/>
          </a:prstGeom>
          <a:noFill/>
          <a:ln w="31750">
            <a:solidFill>
              <a:srgbClr val="EC7000"/>
            </a:solidFill>
            <a:prstDash val="solid"/>
            <a:tailEnd type="triangle"/>
          </a:ln>
        </p:spPr>
      </p:sp>
      <p:sp>
        <p:nvSpPr>
          <p:cNvPr id="36" name="Shape 30"/>
          <p:cNvSpPr/>
          <p:nvPr/>
        </p:nvSpPr>
        <p:spPr>
          <a:xfrm>
            <a:off x="411480" y="2999232"/>
            <a:ext cx="11368735" cy="365760"/>
          </a:xfrm>
          <a:prstGeom prst="roundRect">
            <a:avLst>
              <a:gd name="adj" fmla="val 12500"/>
            </a:avLst>
          </a:prstGeom>
          <a:solidFill>
            <a:srgbClr val="002C5F"/>
          </a:solidFill>
          <a:ln/>
        </p:spPr>
      </p:sp>
      <p:sp>
        <p:nvSpPr>
          <p:cNvPr id="37" name="Text 31"/>
          <p:cNvSpPr/>
          <p:nvPr/>
        </p:nvSpPr>
        <p:spPr>
          <a:xfrm>
            <a:off x="630936" y="2999232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Topologia Atual</a:t>
            </a:r>
            <a:endParaRPr lang="en-US" sz="1500" dirty="0"/>
          </a:p>
        </p:txBody>
      </p:sp>
      <p:sp>
        <p:nvSpPr>
          <p:cNvPr id="38" name="Text 32"/>
          <p:cNvSpPr/>
          <p:nvPr/>
        </p:nvSpPr>
        <p:spPr>
          <a:xfrm>
            <a:off x="4983480" y="2999232"/>
            <a:ext cx="657727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MIPs (porta 6004) → CICS on-premise → Cloud AWS via fila IBM MQ</a:t>
            </a:r>
            <a:endParaRPr lang="en-US" sz="1100" dirty="0"/>
          </a:p>
        </p:txBody>
      </p:sp>
      <p:sp>
        <p:nvSpPr>
          <p:cNvPr id="39" name="Shape 33"/>
          <p:cNvSpPr/>
          <p:nvPr/>
        </p:nvSpPr>
        <p:spPr>
          <a:xfrm>
            <a:off x="411480" y="3419856"/>
            <a:ext cx="3545738" cy="1298448"/>
          </a:xfrm>
          <a:prstGeom prst="roundRect">
            <a:avLst>
              <a:gd name="adj" fmla="val 3521"/>
            </a:avLst>
          </a:prstGeom>
          <a:solidFill>
            <a:srgbClr val="F4F6F9"/>
          </a:solidFill>
          <a:ln w="15875">
            <a:solidFill>
              <a:srgbClr val="D9DEE5"/>
            </a:solidFill>
            <a:prstDash val="solid"/>
          </a:ln>
        </p:spPr>
      </p:sp>
      <p:sp>
        <p:nvSpPr>
          <p:cNvPr id="40" name="Shape 34"/>
          <p:cNvSpPr/>
          <p:nvPr/>
        </p:nvSpPr>
        <p:spPr>
          <a:xfrm>
            <a:off x="539496" y="3511296"/>
            <a:ext cx="3289706" cy="292608"/>
          </a:xfrm>
          <a:prstGeom prst="roundRect">
            <a:avLst>
              <a:gd name="adj" fmla="val 15625"/>
            </a:avLst>
          </a:prstGeom>
          <a:solidFill>
            <a:srgbClr val="002C5F"/>
          </a:solidFill>
          <a:ln/>
        </p:spPr>
      </p:sp>
      <p:sp>
        <p:nvSpPr>
          <p:cNvPr id="41" name="Text 35"/>
          <p:cNvSpPr/>
          <p:nvPr/>
        </p:nvSpPr>
        <p:spPr>
          <a:xfrm>
            <a:off x="539496" y="3511296"/>
            <a:ext cx="328970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Center </a:t>
            </a: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CT</a:t>
            </a:r>
            <a:endParaRPr lang="en-US" sz="1150" dirty="0"/>
          </a:p>
        </p:txBody>
      </p:sp>
      <p:pic>
        <p:nvPicPr>
          <p:cNvPr id="42" name="Image 4" descr="/home/claude/mip/ic/server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47572" y="3877056"/>
            <a:ext cx="402336" cy="548640"/>
          </a:xfrm>
          <a:prstGeom prst="rect">
            <a:avLst/>
          </a:prstGeom>
        </p:spPr>
      </p:pic>
      <p:sp>
        <p:nvSpPr>
          <p:cNvPr id="43" name="Shape 36"/>
          <p:cNvSpPr/>
          <p:nvPr/>
        </p:nvSpPr>
        <p:spPr>
          <a:xfrm>
            <a:off x="883564" y="4471416"/>
            <a:ext cx="530352" cy="169164"/>
          </a:xfrm>
          <a:prstGeom prst="roundRect">
            <a:avLst>
              <a:gd name="adj" fmla="val 43243"/>
            </a:avLst>
          </a:prstGeom>
          <a:solidFill>
            <a:srgbClr val="EC7000"/>
          </a:solidFill>
          <a:ln/>
        </p:spPr>
      </p:sp>
      <p:sp>
        <p:nvSpPr>
          <p:cNvPr id="44" name="Text 37"/>
          <p:cNvSpPr/>
          <p:nvPr/>
        </p:nvSpPr>
        <p:spPr>
          <a:xfrm>
            <a:off x="883564" y="4471416"/>
            <a:ext cx="530352" cy="169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6004</a:t>
            </a:r>
            <a:endParaRPr lang="en-US" sz="850" dirty="0"/>
          </a:p>
        </p:txBody>
      </p:sp>
      <p:pic>
        <p:nvPicPr>
          <p:cNvPr id="45" name="Image 5" descr="/home/claude/mip/ic/server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983181" y="3877056"/>
            <a:ext cx="402336" cy="548640"/>
          </a:xfrm>
          <a:prstGeom prst="rect">
            <a:avLst/>
          </a:prstGeom>
        </p:spPr>
      </p:pic>
      <p:sp>
        <p:nvSpPr>
          <p:cNvPr id="46" name="Shape 38"/>
          <p:cNvSpPr/>
          <p:nvPr/>
        </p:nvSpPr>
        <p:spPr>
          <a:xfrm>
            <a:off x="1919173" y="4471416"/>
            <a:ext cx="530352" cy="169164"/>
          </a:xfrm>
          <a:prstGeom prst="roundRect">
            <a:avLst>
              <a:gd name="adj" fmla="val 43243"/>
            </a:avLst>
          </a:prstGeom>
          <a:solidFill>
            <a:srgbClr val="EC7000"/>
          </a:solidFill>
          <a:ln/>
        </p:spPr>
      </p:sp>
      <p:sp>
        <p:nvSpPr>
          <p:cNvPr id="47" name="Text 39"/>
          <p:cNvSpPr/>
          <p:nvPr/>
        </p:nvSpPr>
        <p:spPr>
          <a:xfrm>
            <a:off x="1919173" y="4471416"/>
            <a:ext cx="530352" cy="169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6004</a:t>
            </a:r>
            <a:endParaRPr lang="en-US" sz="850" dirty="0"/>
          </a:p>
        </p:txBody>
      </p:sp>
      <p:pic>
        <p:nvPicPr>
          <p:cNvPr id="48" name="Image 6" descr="/home/claude/mip/ic/server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018790" y="3877056"/>
            <a:ext cx="402336" cy="548640"/>
          </a:xfrm>
          <a:prstGeom prst="rect">
            <a:avLst/>
          </a:prstGeom>
        </p:spPr>
      </p:pic>
      <p:sp>
        <p:nvSpPr>
          <p:cNvPr id="49" name="Shape 40"/>
          <p:cNvSpPr/>
          <p:nvPr/>
        </p:nvSpPr>
        <p:spPr>
          <a:xfrm>
            <a:off x="2954782" y="4471416"/>
            <a:ext cx="530352" cy="169164"/>
          </a:xfrm>
          <a:prstGeom prst="roundRect">
            <a:avLst>
              <a:gd name="adj" fmla="val 43243"/>
            </a:avLst>
          </a:prstGeom>
          <a:solidFill>
            <a:srgbClr val="EC7000"/>
          </a:solidFill>
          <a:ln/>
        </p:spPr>
      </p:sp>
      <p:sp>
        <p:nvSpPr>
          <p:cNvPr id="50" name="Text 41"/>
          <p:cNvSpPr/>
          <p:nvPr/>
        </p:nvSpPr>
        <p:spPr>
          <a:xfrm>
            <a:off x="2954782" y="4471416"/>
            <a:ext cx="530352" cy="169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6004</a:t>
            </a:r>
            <a:endParaRPr lang="en-US" sz="850" dirty="0"/>
          </a:p>
        </p:txBody>
      </p:sp>
      <p:sp>
        <p:nvSpPr>
          <p:cNvPr id="51" name="Shape 42"/>
          <p:cNvSpPr/>
          <p:nvPr/>
        </p:nvSpPr>
        <p:spPr>
          <a:xfrm>
            <a:off x="4322978" y="3419856"/>
            <a:ext cx="3545738" cy="1298448"/>
          </a:xfrm>
          <a:prstGeom prst="roundRect">
            <a:avLst>
              <a:gd name="adj" fmla="val 3521"/>
            </a:avLst>
          </a:prstGeom>
          <a:solidFill>
            <a:srgbClr val="F4F6F9"/>
          </a:solidFill>
          <a:ln w="15875">
            <a:solidFill>
              <a:srgbClr val="D9DEE5"/>
            </a:solidFill>
            <a:prstDash val="solid"/>
          </a:ln>
        </p:spPr>
      </p:sp>
      <p:sp>
        <p:nvSpPr>
          <p:cNvPr id="52" name="Shape 43"/>
          <p:cNvSpPr/>
          <p:nvPr/>
        </p:nvSpPr>
        <p:spPr>
          <a:xfrm>
            <a:off x="4450994" y="3511296"/>
            <a:ext cx="3289706" cy="292608"/>
          </a:xfrm>
          <a:prstGeom prst="roundRect">
            <a:avLst>
              <a:gd name="adj" fmla="val 15625"/>
            </a:avLst>
          </a:prstGeom>
          <a:solidFill>
            <a:srgbClr val="002C5F"/>
          </a:solidFill>
          <a:ln/>
        </p:spPr>
      </p:sp>
      <p:sp>
        <p:nvSpPr>
          <p:cNvPr id="53" name="Text 44"/>
          <p:cNvSpPr/>
          <p:nvPr/>
        </p:nvSpPr>
        <p:spPr>
          <a:xfrm>
            <a:off x="4450994" y="3511296"/>
            <a:ext cx="328970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Center </a:t>
            </a: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DCMM1</a:t>
            </a:r>
            <a:endParaRPr lang="en-US" sz="1150" dirty="0"/>
          </a:p>
        </p:txBody>
      </p:sp>
      <p:pic>
        <p:nvPicPr>
          <p:cNvPr id="54" name="Image 7" descr="/home/claude/mip/ic/server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859071" y="3877056"/>
            <a:ext cx="402336" cy="548640"/>
          </a:xfrm>
          <a:prstGeom prst="rect">
            <a:avLst/>
          </a:prstGeom>
        </p:spPr>
      </p:pic>
      <p:sp>
        <p:nvSpPr>
          <p:cNvPr id="55" name="Shape 45"/>
          <p:cNvSpPr/>
          <p:nvPr/>
        </p:nvSpPr>
        <p:spPr>
          <a:xfrm>
            <a:off x="4795063" y="4471416"/>
            <a:ext cx="530352" cy="169164"/>
          </a:xfrm>
          <a:prstGeom prst="roundRect">
            <a:avLst>
              <a:gd name="adj" fmla="val 43243"/>
            </a:avLst>
          </a:prstGeom>
          <a:solidFill>
            <a:srgbClr val="EC7000"/>
          </a:solidFill>
          <a:ln/>
        </p:spPr>
      </p:sp>
      <p:sp>
        <p:nvSpPr>
          <p:cNvPr id="56" name="Text 46"/>
          <p:cNvSpPr/>
          <p:nvPr/>
        </p:nvSpPr>
        <p:spPr>
          <a:xfrm>
            <a:off x="4795063" y="4471416"/>
            <a:ext cx="530352" cy="169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6004</a:t>
            </a:r>
            <a:endParaRPr lang="en-US" sz="850" dirty="0"/>
          </a:p>
        </p:txBody>
      </p:sp>
      <p:pic>
        <p:nvPicPr>
          <p:cNvPr id="57" name="Image 8" descr="/home/claude/mip/ic/server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894680" y="3877056"/>
            <a:ext cx="402336" cy="548640"/>
          </a:xfrm>
          <a:prstGeom prst="rect">
            <a:avLst/>
          </a:prstGeom>
        </p:spPr>
      </p:pic>
      <p:sp>
        <p:nvSpPr>
          <p:cNvPr id="58" name="Shape 47"/>
          <p:cNvSpPr/>
          <p:nvPr/>
        </p:nvSpPr>
        <p:spPr>
          <a:xfrm>
            <a:off x="5830672" y="4471416"/>
            <a:ext cx="530352" cy="169164"/>
          </a:xfrm>
          <a:prstGeom prst="roundRect">
            <a:avLst>
              <a:gd name="adj" fmla="val 43243"/>
            </a:avLst>
          </a:prstGeom>
          <a:solidFill>
            <a:srgbClr val="EC7000"/>
          </a:solidFill>
          <a:ln/>
        </p:spPr>
      </p:sp>
      <p:sp>
        <p:nvSpPr>
          <p:cNvPr id="59" name="Text 48"/>
          <p:cNvSpPr/>
          <p:nvPr/>
        </p:nvSpPr>
        <p:spPr>
          <a:xfrm>
            <a:off x="5830672" y="4471416"/>
            <a:ext cx="530352" cy="169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6004</a:t>
            </a:r>
            <a:endParaRPr lang="en-US" sz="850" dirty="0"/>
          </a:p>
        </p:txBody>
      </p:sp>
      <p:pic>
        <p:nvPicPr>
          <p:cNvPr id="60" name="Image 9" descr="/home/claude/mip/ic/server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930288" y="3877056"/>
            <a:ext cx="402336" cy="548640"/>
          </a:xfrm>
          <a:prstGeom prst="rect">
            <a:avLst/>
          </a:prstGeom>
        </p:spPr>
      </p:pic>
      <p:sp>
        <p:nvSpPr>
          <p:cNvPr id="61" name="Shape 49"/>
          <p:cNvSpPr/>
          <p:nvPr/>
        </p:nvSpPr>
        <p:spPr>
          <a:xfrm>
            <a:off x="6866280" y="4471416"/>
            <a:ext cx="530352" cy="169164"/>
          </a:xfrm>
          <a:prstGeom prst="roundRect">
            <a:avLst>
              <a:gd name="adj" fmla="val 43243"/>
            </a:avLst>
          </a:prstGeom>
          <a:solidFill>
            <a:srgbClr val="EC7000"/>
          </a:solidFill>
          <a:ln/>
        </p:spPr>
      </p:sp>
      <p:sp>
        <p:nvSpPr>
          <p:cNvPr id="62" name="Text 50"/>
          <p:cNvSpPr/>
          <p:nvPr/>
        </p:nvSpPr>
        <p:spPr>
          <a:xfrm>
            <a:off x="6866280" y="4471416"/>
            <a:ext cx="530352" cy="169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6004</a:t>
            </a:r>
            <a:endParaRPr lang="en-US" sz="850" dirty="0"/>
          </a:p>
        </p:txBody>
      </p:sp>
      <p:sp>
        <p:nvSpPr>
          <p:cNvPr id="63" name="Shape 51"/>
          <p:cNvSpPr/>
          <p:nvPr/>
        </p:nvSpPr>
        <p:spPr>
          <a:xfrm>
            <a:off x="8234477" y="3419856"/>
            <a:ext cx="3545738" cy="1298448"/>
          </a:xfrm>
          <a:prstGeom prst="roundRect">
            <a:avLst>
              <a:gd name="adj" fmla="val 3521"/>
            </a:avLst>
          </a:prstGeom>
          <a:solidFill>
            <a:srgbClr val="F4F6F9"/>
          </a:solidFill>
          <a:ln w="15875">
            <a:solidFill>
              <a:srgbClr val="D9DEE5"/>
            </a:solidFill>
            <a:prstDash val="solid"/>
          </a:ln>
        </p:spPr>
      </p:sp>
      <p:sp>
        <p:nvSpPr>
          <p:cNvPr id="64" name="Shape 52"/>
          <p:cNvSpPr/>
          <p:nvPr/>
        </p:nvSpPr>
        <p:spPr>
          <a:xfrm>
            <a:off x="8362493" y="3511296"/>
            <a:ext cx="3289706" cy="292608"/>
          </a:xfrm>
          <a:prstGeom prst="roundRect">
            <a:avLst>
              <a:gd name="adj" fmla="val 15625"/>
            </a:avLst>
          </a:prstGeom>
          <a:solidFill>
            <a:srgbClr val="002C5F"/>
          </a:solidFill>
          <a:ln/>
        </p:spPr>
      </p:sp>
      <p:sp>
        <p:nvSpPr>
          <p:cNvPr id="65" name="Text 53"/>
          <p:cNvSpPr/>
          <p:nvPr/>
        </p:nvSpPr>
        <p:spPr>
          <a:xfrm>
            <a:off x="8362493" y="3511296"/>
            <a:ext cx="328970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Center </a:t>
            </a: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DCMM2</a:t>
            </a:r>
            <a:endParaRPr lang="en-US" sz="1150" dirty="0"/>
          </a:p>
        </p:txBody>
      </p:sp>
      <p:pic>
        <p:nvPicPr>
          <p:cNvPr id="66" name="Image 10" descr="/home/claude/mip/ic/server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770569" y="3877056"/>
            <a:ext cx="402336" cy="548640"/>
          </a:xfrm>
          <a:prstGeom prst="rect">
            <a:avLst/>
          </a:prstGeom>
        </p:spPr>
      </p:pic>
      <p:sp>
        <p:nvSpPr>
          <p:cNvPr id="67" name="Shape 54"/>
          <p:cNvSpPr/>
          <p:nvPr/>
        </p:nvSpPr>
        <p:spPr>
          <a:xfrm>
            <a:off x="8706561" y="4471416"/>
            <a:ext cx="530352" cy="169164"/>
          </a:xfrm>
          <a:prstGeom prst="roundRect">
            <a:avLst>
              <a:gd name="adj" fmla="val 43243"/>
            </a:avLst>
          </a:prstGeom>
          <a:solidFill>
            <a:srgbClr val="EC7000"/>
          </a:solidFill>
          <a:ln/>
        </p:spPr>
      </p:sp>
      <p:sp>
        <p:nvSpPr>
          <p:cNvPr id="68" name="Text 55"/>
          <p:cNvSpPr/>
          <p:nvPr/>
        </p:nvSpPr>
        <p:spPr>
          <a:xfrm>
            <a:off x="8706561" y="4471416"/>
            <a:ext cx="530352" cy="169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6004</a:t>
            </a:r>
            <a:endParaRPr lang="en-US" sz="850" dirty="0"/>
          </a:p>
        </p:txBody>
      </p:sp>
      <p:pic>
        <p:nvPicPr>
          <p:cNvPr id="69" name="Image 11" descr="/home/claude/mip/ic/server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806178" y="3877056"/>
            <a:ext cx="402336" cy="548640"/>
          </a:xfrm>
          <a:prstGeom prst="rect">
            <a:avLst/>
          </a:prstGeom>
        </p:spPr>
      </p:pic>
      <p:sp>
        <p:nvSpPr>
          <p:cNvPr id="70" name="Shape 56"/>
          <p:cNvSpPr/>
          <p:nvPr/>
        </p:nvSpPr>
        <p:spPr>
          <a:xfrm>
            <a:off x="9742170" y="4471416"/>
            <a:ext cx="530352" cy="169164"/>
          </a:xfrm>
          <a:prstGeom prst="roundRect">
            <a:avLst>
              <a:gd name="adj" fmla="val 43243"/>
            </a:avLst>
          </a:prstGeom>
          <a:solidFill>
            <a:srgbClr val="EC7000"/>
          </a:solidFill>
          <a:ln/>
        </p:spPr>
      </p:sp>
      <p:sp>
        <p:nvSpPr>
          <p:cNvPr id="71" name="Text 57"/>
          <p:cNvSpPr/>
          <p:nvPr/>
        </p:nvSpPr>
        <p:spPr>
          <a:xfrm>
            <a:off x="9742170" y="4471416"/>
            <a:ext cx="530352" cy="169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6004</a:t>
            </a:r>
            <a:endParaRPr lang="en-US" sz="850" dirty="0"/>
          </a:p>
        </p:txBody>
      </p:sp>
      <p:pic>
        <p:nvPicPr>
          <p:cNvPr id="72" name="Image 12" descr="/home/claude/mip/ic/server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841787" y="3877056"/>
            <a:ext cx="402336" cy="548640"/>
          </a:xfrm>
          <a:prstGeom prst="rect">
            <a:avLst/>
          </a:prstGeom>
        </p:spPr>
      </p:pic>
      <p:sp>
        <p:nvSpPr>
          <p:cNvPr id="73" name="Shape 58"/>
          <p:cNvSpPr/>
          <p:nvPr/>
        </p:nvSpPr>
        <p:spPr>
          <a:xfrm>
            <a:off x="10777779" y="4471416"/>
            <a:ext cx="530352" cy="169164"/>
          </a:xfrm>
          <a:prstGeom prst="roundRect">
            <a:avLst>
              <a:gd name="adj" fmla="val 43243"/>
            </a:avLst>
          </a:prstGeom>
          <a:solidFill>
            <a:srgbClr val="EC7000"/>
          </a:solidFill>
          <a:ln/>
        </p:spPr>
      </p:sp>
      <p:sp>
        <p:nvSpPr>
          <p:cNvPr id="74" name="Text 59"/>
          <p:cNvSpPr/>
          <p:nvPr/>
        </p:nvSpPr>
        <p:spPr>
          <a:xfrm>
            <a:off x="10777779" y="4471416"/>
            <a:ext cx="530352" cy="169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6004</a:t>
            </a:r>
            <a:endParaRPr lang="en-US" sz="850" dirty="0"/>
          </a:p>
        </p:txBody>
      </p:sp>
      <p:sp>
        <p:nvSpPr>
          <p:cNvPr id="75" name="Shape 60"/>
          <p:cNvSpPr/>
          <p:nvPr/>
        </p:nvSpPr>
        <p:spPr>
          <a:xfrm>
            <a:off x="2184349" y="4718304"/>
            <a:ext cx="0" cy="182880"/>
          </a:xfrm>
          <a:prstGeom prst="line">
            <a:avLst/>
          </a:prstGeom>
          <a:noFill/>
          <a:ln w="25400">
            <a:solidFill>
              <a:srgbClr val="002C5F"/>
            </a:solidFill>
            <a:prstDash val="solid"/>
          </a:ln>
        </p:spPr>
      </p:sp>
      <p:sp>
        <p:nvSpPr>
          <p:cNvPr id="76" name="Shape 61"/>
          <p:cNvSpPr/>
          <p:nvPr/>
        </p:nvSpPr>
        <p:spPr>
          <a:xfrm>
            <a:off x="6095848" y="4718304"/>
            <a:ext cx="0" cy="182880"/>
          </a:xfrm>
          <a:prstGeom prst="line">
            <a:avLst/>
          </a:prstGeom>
          <a:noFill/>
          <a:ln w="25400">
            <a:solidFill>
              <a:srgbClr val="002C5F"/>
            </a:solidFill>
            <a:prstDash val="solid"/>
          </a:ln>
        </p:spPr>
      </p:sp>
      <p:sp>
        <p:nvSpPr>
          <p:cNvPr id="77" name="Shape 62"/>
          <p:cNvSpPr/>
          <p:nvPr/>
        </p:nvSpPr>
        <p:spPr>
          <a:xfrm>
            <a:off x="10007346" y="4718304"/>
            <a:ext cx="0" cy="182880"/>
          </a:xfrm>
          <a:prstGeom prst="line">
            <a:avLst/>
          </a:prstGeom>
          <a:noFill/>
          <a:ln w="25400">
            <a:solidFill>
              <a:srgbClr val="002C5F"/>
            </a:solidFill>
            <a:prstDash val="solid"/>
          </a:ln>
        </p:spPr>
      </p:sp>
      <p:sp>
        <p:nvSpPr>
          <p:cNvPr id="78" name="Shape 63"/>
          <p:cNvSpPr/>
          <p:nvPr/>
        </p:nvSpPr>
        <p:spPr>
          <a:xfrm>
            <a:off x="2184349" y="4901184"/>
            <a:ext cx="7822997" cy="0"/>
          </a:xfrm>
          <a:prstGeom prst="line">
            <a:avLst/>
          </a:prstGeom>
          <a:noFill/>
          <a:ln w="25400">
            <a:solidFill>
              <a:srgbClr val="002C5F"/>
            </a:solidFill>
            <a:prstDash val="solid"/>
          </a:ln>
        </p:spPr>
      </p:sp>
      <p:sp>
        <p:nvSpPr>
          <p:cNvPr id="79" name="Shape 64"/>
          <p:cNvSpPr/>
          <p:nvPr/>
        </p:nvSpPr>
        <p:spPr>
          <a:xfrm>
            <a:off x="3291840" y="4901184"/>
            <a:ext cx="0" cy="73152"/>
          </a:xfrm>
          <a:prstGeom prst="line">
            <a:avLst/>
          </a:prstGeom>
          <a:noFill/>
          <a:ln w="38100">
            <a:solidFill>
              <a:srgbClr val="EC7000"/>
            </a:solidFill>
            <a:prstDash val="solid"/>
            <a:tailEnd type="triangle"/>
          </a:ln>
        </p:spPr>
      </p:sp>
      <p:sp>
        <p:nvSpPr>
          <p:cNvPr id="80" name="Shape 65"/>
          <p:cNvSpPr/>
          <p:nvPr/>
        </p:nvSpPr>
        <p:spPr>
          <a:xfrm>
            <a:off x="1234440" y="4974336"/>
            <a:ext cx="4114800" cy="128016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 w="19050">
            <a:solidFill>
              <a:srgbClr val="002C5F"/>
            </a:solidFill>
            <a:prstDash val="solid"/>
          </a:ln>
          <a:effectLst>
            <a:outerShdw blurRad="76200" dist="25400" dir="5400000" algn="bl" rotWithShape="0">
              <a:srgbClr val="9AA6B4">
                <a:alpha val="20000"/>
              </a:srgbClr>
            </a:outerShdw>
          </a:effectLst>
        </p:spPr>
      </p:sp>
      <p:pic>
        <p:nvPicPr>
          <p:cNvPr id="81" name="Image 13" descr="/home/claude/mip/ic/mainfram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490472" y="5321808"/>
            <a:ext cx="603504" cy="566928"/>
          </a:xfrm>
          <a:prstGeom prst="rect">
            <a:avLst/>
          </a:prstGeom>
        </p:spPr>
      </p:pic>
      <p:sp>
        <p:nvSpPr>
          <p:cNvPr id="82" name="Text 66"/>
          <p:cNvSpPr/>
          <p:nvPr/>
        </p:nvSpPr>
        <p:spPr>
          <a:xfrm>
            <a:off x="2258568" y="5285232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02C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Autorizador de Débito</a:t>
            </a:r>
            <a:endParaRPr lang="en-US" sz="1450" dirty="0"/>
          </a:p>
        </p:txBody>
      </p:sp>
      <p:sp>
        <p:nvSpPr>
          <p:cNvPr id="83" name="Text 67"/>
          <p:cNvSpPr/>
          <p:nvPr/>
        </p:nvSpPr>
        <p:spPr>
          <a:xfrm>
            <a:off x="2258568" y="5650992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A67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On-premise · CICS 1 · Z2</a:t>
            </a:r>
            <a:endParaRPr lang="en-US" sz="1200" dirty="0"/>
          </a:p>
        </p:txBody>
      </p:sp>
      <p:pic>
        <p:nvPicPr>
          <p:cNvPr id="84" name="Image 14" descr="/home/claude/mip/ic/mq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847588" y="5120640"/>
            <a:ext cx="512064" cy="219456"/>
          </a:xfrm>
          <a:prstGeom prst="rect">
            <a:avLst/>
          </a:prstGeom>
        </p:spPr>
      </p:pic>
      <p:sp>
        <p:nvSpPr>
          <p:cNvPr id="85" name="Text 68"/>
          <p:cNvSpPr/>
          <p:nvPr/>
        </p:nvSpPr>
        <p:spPr>
          <a:xfrm>
            <a:off x="5463540" y="5376672"/>
            <a:ext cx="1280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2C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IBM MQ</a:t>
            </a:r>
            <a:endParaRPr lang="en-US" sz="1100" dirty="0"/>
          </a:p>
        </p:txBody>
      </p:sp>
      <p:sp>
        <p:nvSpPr>
          <p:cNvPr id="86" name="Shape 69"/>
          <p:cNvSpPr/>
          <p:nvPr/>
        </p:nvSpPr>
        <p:spPr>
          <a:xfrm>
            <a:off x="5404104" y="5724144"/>
            <a:ext cx="1399032" cy="0"/>
          </a:xfrm>
          <a:prstGeom prst="line">
            <a:avLst/>
          </a:prstGeom>
          <a:noFill/>
          <a:ln w="38100">
            <a:solidFill>
              <a:srgbClr val="EC7000"/>
            </a:solidFill>
            <a:prstDash val="solid"/>
            <a:tailEnd type="triangle"/>
          </a:ln>
        </p:spPr>
      </p:sp>
      <p:sp>
        <p:nvSpPr>
          <p:cNvPr id="87" name="Text 70"/>
          <p:cNvSpPr/>
          <p:nvPr/>
        </p:nvSpPr>
        <p:spPr>
          <a:xfrm>
            <a:off x="5326380" y="5815584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i="1" dirty="0">
                <a:solidFill>
                  <a:srgbClr val="5A67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on-prem → nuvem</a:t>
            </a:r>
            <a:endParaRPr lang="en-US" sz="850" dirty="0"/>
          </a:p>
        </p:txBody>
      </p:sp>
      <p:sp>
        <p:nvSpPr>
          <p:cNvPr id="88" name="Shape 71"/>
          <p:cNvSpPr/>
          <p:nvPr/>
        </p:nvSpPr>
        <p:spPr>
          <a:xfrm>
            <a:off x="6858000" y="4974336"/>
            <a:ext cx="4114800" cy="128016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 w="19050">
            <a:solidFill>
              <a:srgbClr val="EC7000"/>
            </a:solidFill>
            <a:prstDash val="solid"/>
          </a:ln>
          <a:effectLst>
            <a:outerShdw blurRad="76200" dist="25400" dir="5400000" algn="bl" rotWithShape="0">
              <a:srgbClr val="9AA6B4">
                <a:alpha val="20000"/>
              </a:srgbClr>
            </a:outerShdw>
          </a:effectLst>
        </p:spPr>
      </p:sp>
      <p:pic>
        <p:nvPicPr>
          <p:cNvPr id="89" name="Image 15" descr="/home/claude/mip/ic/clou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114032" y="5358384"/>
            <a:ext cx="749808" cy="484632"/>
          </a:xfrm>
          <a:prstGeom prst="rect">
            <a:avLst/>
          </a:prstGeom>
        </p:spPr>
      </p:pic>
      <p:sp>
        <p:nvSpPr>
          <p:cNvPr id="90" name="Text 72"/>
          <p:cNvSpPr/>
          <p:nvPr/>
        </p:nvSpPr>
        <p:spPr>
          <a:xfrm>
            <a:off x="8010144" y="5285232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02C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AWS</a:t>
            </a:r>
            <a:endParaRPr lang="en-US" sz="1450" dirty="0"/>
          </a:p>
        </p:txBody>
      </p:sp>
      <p:sp>
        <p:nvSpPr>
          <p:cNvPr id="91" name="Text 73"/>
          <p:cNvSpPr/>
          <p:nvPr/>
        </p:nvSpPr>
        <p:spPr>
          <a:xfrm>
            <a:off x="8010144" y="5650992"/>
            <a:ext cx="2834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A67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consumidores / serviços em nuvem</a:t>
            </a:r>
            <a:endParaRPr lang="en-US" sz="1150" dirty="0"/>
          </a:p>
        </p:txBody>
      </p:sp>
      <p:sp>
        <p:nvSpPr>
          <p:cNvPr id="92" name="Text 74"/>
          <p:cNvSpPr/>
          <p:nvPr/>
        </p:nvSpPr>
        <p:spPr>
          <a:xfrm>
            <a:off x="411480" y="6455664"/>
            <a:ext cx="10058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67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Mastercard Interface Processor (MIP)  ·  Autorizador de Débito  ·  Itaú Unibanco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256032"/>
            <a:ext cx="11368735" cy="786384"/>
          </a:xfrm>
          <a:prstGeom prst="roundRect">
            <a:avLst>
              <a:gd name="adj" fmla="val 6977"/>
            </a:avLst>
          </a:prstGeom>
          <a:solidFill>
            <a:srgbClr val="002C5F"/>
          </a:solidFill>
          <a:ln/>
        </p:spPr>
      </p:sp>
      <p:sp>
        <p:nvSpPr>
          <p:cNvPr id="3" name="Text 1"/>
          <p:cNvSpPr/>
          <p:nvPr/>
        </p:nvSpPr>
        <p:spPr>
          <a:xfrm>
            <a:off x="649224" y="301752"/>
            <a:ext cx="7863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MIP — Topologia TO-BE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667512" y="72237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MIP com dupla porta: 7004 direto na Cloud AWS (primário) · 6004 no on-premise (contingência)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8780983" y="457200"/>
            <a:ext cx="2743200" cy="384048"/>
          </a:xfrm>
          <a:prstGeom prst="roundRect">
            <a:avLst>
              <a:gd name="adj" fmla="val 50000"/>
            </a:avLst>
          </a:prstGeom>
          <a:solidFill>
            <a:srgbClr val="EC7000"/>
          </a:solidFill>
          <a:ln/>
        </p:spPr>
      </p:sp>
      <p:sp>
        <p:nvSpPr>
          <p:cNvPr id="6" name="Text 4"/>
          <p:cNvSpPr/>
          <p:nvPr/>
        </p:nvSpPr>
        <p:spPr>
          <a:xfrm>
            <a:off x="8780983" y="457200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Topologia TO-BE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11480" y="1115568"/>
            <a:ext cx="11368735" cy="822960"/>
          </a:xfrm>
          <a:prstGeom prst="roundRect">
            <a:avLst>
              <a:gd name="adj" fmla="val 5556"/>
            </a:avLst>
          </a:prstGeom>
          <a:solidFill>
            <a:srgbClr val="F4F6F9"/>
          </a:solidFill>
          <a:ln w="12700">
            <a:solidFill>
              <a:srgbClr val="D9DEE5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85800" y="1371600"/>
            <a:ext cx="502920" cy="0"/>
          </a:xfrm>
          <a:prstGeom prst="line">
            <a:avLst/>
          </a:prstGeom>
          <a:noFill/>
          <a:ln w="44450">
            <a:solidFill>
              <a:srgbClr val="EC7000"/>
            </a:solidFill>
            <a:prstDash val="solid"/>
            <a:tailEnd type="triangle"/>
          </a:ln>
        </p:spPr>
      </p:sp>
      <p:sp>
        <p:nvSpPr>
          <p:cNvPr id="9" name="Text 7"/>
          <p:cNvSpPr/>
          <p:nvPr/>
        </p:nvSpPr>
        <p:spPr>
          <a:xfrm>
            <a:off x="1325880" y="1243584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02C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Porta 7004 → Cloud AWS</a:t>
            </a:r>
            <a:r>
              <a:rPr lang="en-US" sz="1150" dirty="0">
                <a:solidFill>
                  <a:srgbClr val="1A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 conexão direta (fluxo primário)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85800" y="1691640"/>
            <a:ext cx="502920" cy="0"/>
          </a:xfrm>
          <a:prstGeom prst="line">
            <a:avLst/>
          </a:prstGeom>
          <a:noFill/>
          <a:ln w="44450">
            <a:solidFill>
              <a:srgbClr val="002C5F"/>
            </a:solidFill>
            <a:prstDash val="dash"/>
            <a:tailEnd type="triangle"/>
          </a:ln>
        </p:spPr>
      </p:sp>
      <p:sp>
        <p:nvSpPr>
          <p:cNvPr id="11" name="Text 9"/>
          <p:cNvSpPr/>
          <p:nvPr/>
        </p:nvSpPr>
        <p:spPr>
          <a:xfrm>
            <a:off x="1325880" y="1563624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02C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Porta 6004 → On-premise CICS</a:t>
            </a:r>
            <a:r>
              <a:rPr lang="en-US" sz="1150" dirty="0">
                <a:solidFill>
                  <a:srgbClr val="1A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 contingência / failover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6537960" y="1243584"/>
            <a:ext cx="0" cy="566928"/>
          </a:xfrm>
          <a:prstGeom prst="line">
            <a:avLst/>
          </a:prstGeom>
          <a:noFill/>
          <a:ln w="12700">
            <a:solidFill>
              <a:srgbClr val="D9DEE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766560" y="1225296"/>
            <a:ext cx="4785055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8000"/>
              </a:lnSpc>
              <a:buNone/>
            </a:pPr>
            <a:r>
              <a:rPr lang="en-US" sz="1150" b="1" dirty="0">
                <a:solidFill>
                  <a:srgbClr val="EC7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muda:  </a:t>
            </a:r>
            <a:r>
              <a:rPr lang="en-US" sz="1150" dirty="0">
                <a:solidFill>
                  <a:srgbClr val="1A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MIP conecta direto na nuvem pela 7004; a 6004 (on-premise) passa a ser contingência. A ligação via IBM MQ entre on-premise e cloud é removida.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411480" y="2048256"/>
            <a:ext cx="11368735" cy="365760"/>
          </a:xfrm>
          <a:prstGeom prst="roundRect">
            <a:avLst>
              <a:gd name="adj" fmla="val 12500"/>
            </a:avLst>
          </a:prstGeom>
          <a:solidFill>
            <a:srgbClr val="002C5F"/>
          </a:solidFill>
          <a:ln/>
        </p:spPr>
      </p:sp>
      <p:sp>
        <p:nvSpPr>
          <p:cNvPr id="15" name="Text 13"/>
          <p:cNvSpPr/>
          <p:nvPr/>
        </p:nvSpPr>
        <p:spPr>
          <a:xfrm>
            <a:off x="630936" y="2048256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Topologia TO-BE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4983480" y="2048256"/>
            <a:ext cx="657727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MIP com 2 portas · 9 MIPs em 3 data centers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11480" y="2542032"/>
            <a:ext cx="3545738" cy="1517904"/>
          </a:xfrm>
          <a:prstGeom prst="roundRect">
            <a:avLst>
              <a:gd name="adj" fmla="val 3012"/>
            </a:avLst>
          </a:prstGeom>
          <a:solidFill>
            <a:srgbClr val="F4F6F9"/>
          </a:solidFill>
          <a:ln w="15875">
            <a:solidFill>
              <a:srgbClr val="D9DEE5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39496" y="2633472"/>
            <a:ext cx="3289706" cy="292608"/>
          </a:xfrm>
          <a:prstGeom prst="roundRect">
            <a:avLst>
              <a:gd name="adj" fmla="val 15625"/>
            </a:avLst>
          </a:prstGeom>
          <a:solidFill>
            <a:srgbClr val="002C5F"/>
          </a:solidFill>
          <a:ln/>
        </p:spPr>
      </p:sp>
      <p:sp>
        <p:nvSpPr>
          <p:cNvPr id="19" name="Text 17"/>
          <p:cNvSpPr/>
          <p:nvPr/>
        </p:nvSpPr>
        <p:spPr>
          <a:xfrm>
            <a:off x="539496" y="2633472"/>
            <a:ext cx="328970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Center </a:t>
            </a: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CT</a:t>
            </a:r>
            <a:endParaRPr lang="en-US" sz="1150" dirty="0"/>
          </a:p>
        </p:txBody>
      </p:sp>
      <p:pic>
        <p:nvPicPr>
          <p:cNvPr id="20" name="Image 0" descr="/home/claude/mip/ic/serv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7572" y="2999232"/>
            <a:ext cx="402336" cy="548640"/>
          </a:xfrm>
          <a:prstGeom prst="rect">
            <a:avLst/>
          </a:prstGeom>
        </p:spPr>
      </p:pic>
      <p:sp>
        <p:nvSpPr>
          <p:cNvPr id="21" name="Shape 18"/>
          <p:cNvSpPr/>
          <p:nvPr/>
        </p:nvSpPr>
        <p:spPr>
          <a:xfrm>
            <a:off x="883564" y="3593592"/>
            <a:ext cx="530352" cy="169164"/>
          </a:xfrm>
          <a:prstGeom prst="roundRect">
            <a:avLst>
              <a:gd name="adj" fmla="val 43243"/>
            </a:avLst>
          </a:prstGeom>
          <a:solidFill>
            <a:srgbClr val="EC7000"/>
          </a:solidFill>
          <a:ln/>
        </p:spPr>
      </p:sp>
      <p:sp>
        <p:nvSpPr>
          <p:cNvPr id="22" name="Text 19"/>
          <p:cNvSpPr/>
          <p:nvPr/>
        </p:nvSpPr>
        <p:spPr>
          <a:xfrm>
            <a:off x="883564" y="3593592"/>
            <a:ext cx="530352" cy="169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7004</a:t>
            </a:r>
            <a:endParaRPr lang="en-US" sz="850" dirty="0"/>
          </a:p>
        </p:txBody>
      </p:sp>
      <p:sp>
        <p:nvSpPr>
          <p:cNvPr id="23" name="Shape 20"/>
          <p:cNvSpPr/>
          <p:nvPr/>
        </p:nvSpPr>
        <p:spPr>
          <a:xfrm>
            <a:off x="883564" y="3781044"/>
            <a:ext cx="530352" cy="169164"/>
          </a:xfrm>
          <a:prstGeom prst="roundRect">
            <a:avLst>
              <a:gd name="adj" fmla="val 43243"/>
            </a:avLst>
          </a:prstGeom>
          <a:solidFill>
            <a:srgbClr val="FFFFFF"/>
          </a:solidFill>
          <a:ln w="12700">
            <a:solidFill>
              <a:srgbClr val="002C5F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883564" y="3781044"/>
            <a:ext cx="530352" cy="169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02C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6004</a:t>
            </a:r>
            <a:endParaRPr lang="en-US" sz="850" dirty="0"/>
          </a:p>
        </p:txBody>
      </p:sp>
      <p:pic>
        <p:nvPicPr>
          <p:cNvPr id="25" name="Image 1" descr="/home/claude/mip/ic/serv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83181" y="2999232"/>
            <a:ext cx="402336" cy="548640"/>
          </a:xfrm>
          <a:prstGeom prst="rect">
            <a:avLst/>
          </a:prstGeom>
        </p:spPr>
      </p:pic>
      <p:sp>
        <p:nvSpPr>
          <p:cNvPr id="26" name="Shape 22"/>
          <p:cNvSpPr/>
          <p:nvPr/>
        </p:nvSpPr>
        <p:spPr>
          <a:xfrm>
            <a:off x="1919173" y="3593592"/>
            <a:ext cx="530352" cy="169164"/>
          </a:xfrm>
          <a:prstGeom prst="roundRect">
            <a:avLst>
              <a:gd name="adj" fmla="val 43243"/>
            </a:avLst>
          </a:prstGeom>
          <a:solidFill>
            <a:srgbClr val="EC7000"/>
          </a:solidFill>
          <a:ln/>
        </p:spPr>
      </p:sp>
      <p:sp>
        <p:nvSpPr>
          <p:cNvPr id="27" name="Text 23"/>
          <p:cNvSpPr/>
          <p:nvPr/>
        </p:nvSpPr>
        <p:spPr>
          <a:xfrm>
            <a:off x="1919173" y="3593592"/>
            <a:ext cx="530352" cy="169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7004</a:t>
            </a:r>
            <a:endParaRPr lang="en-US" sz="850" dirty="0"/>
          </a:p>
        </p:txBody>
      </p:sp>
      <p:sp>
        <p:nvSpPr>
          <p:cNvPr id="28" name="Shape 24"/>
          <p:cNvSpPr/>
          <p:nvPr/>
        </p:nvSpPr>
        <p:spPr>
          <a:xfrm>
            <a:off x="1919173" y="3781044"/>
            <a:ext cx="530352" cy="169164"/>
          </a:xfrm>
          <a:prstGeom prst="roundRect">
            <a:avLst>
              <a:gd name="adj" fmla="val 43243"/>
            </a:avLst>
          </a:prstGeom>
          <a:solidFill>
            <a:srgbClr val="FFFFFF"/>
          </a:solidFill>
          <a:ln w="12700">
            <a:solidFill>
              <a:srgbClr val="002C5F"/>
            </a:solidFill>
            <a:prstDash val="solid"/>
          </a:ln>
        </p:spPr>
      </p:sp>
      <p:sp>
        <p:nvSpPr>
          <p:cNvPr id="29" name="Text 25"/>
          <p:cNvSpPr/>
          <p:nvPr/>
        </p:nvSpPr>
        <p:spPr>
          <a:xfrm>
            <a:off x="1919173" y="3781044"/>
            <a:ext cx="530352" cy="169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02C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6004</a:t>
            </a:r>
            <a:endParaRPr lang="en-US" sz="850" dirty="0"/>
          </a:p>
        </p:txBody>
      </p:sp>
      <p:pic>
        <p:nvPicPr>
          <p:cNvPr id="30" name="Image 2" descr="/home/claude/mip/ic/serv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18790" y="2999232"/>
            <a:ext cx="402336" cy="548640"/>
          </a:xfrm>
          <a:prstGeom prst="rect">
            <a:avLst/>
          </a:prstGeom>
        </p:spPr>
      </p:pic>
      <p:sp>
        <p:nvSpPr>
          <p:cNvPr id="31" name="Shape 26"/>
          <p:cNvSpPr/>
          <p:nvPr/>
        </p:nvSpPr>
        <p:spPr>
          <a:xfrm>
            <a:off x="2954782" y="3593592"/>
            <a:ext cx="530352" cy="169164"/>
          </a:xfrm>
          <a:prstGeom prst="roundRect">
            <a:avLst>
              <a:gd name="adj" fmla="val 43243"/>
            </a:avLst>
          </a:prstGeom>
          <a:solidFill>
            <a:srgbClr val="EC7000"/>
          </a:solidFill>
          <a:ln/>
        </p:spPr>
      </p:sp>
      <p:sp>
        <p:nvSpPr>
          <p:cNvPr id="32" name="Text 27"/>
          <p:cNvSpPr/>
          <p:nvPr/>
        </p:nvSpPr>
        <p:spPr>
          <a:xfrm>
            <a:off x="2954782" y="3593592"/>
            <a:ext cx="530352" cy="169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7004</a:t>
            </a:r>
            <a:endParaRPr lang="en-US" sz="850" dirty="0"/>
          </a:p>
        </p:txBody>
      </p:sp>
      <p:sp>
        <p:nvSpPr>
          <p:cNvPr id="33" name="Shape 28"/>
          <p:cNvSpPr/>
          <p:nvPr/>
        </p:nvSpPr>
        <p:spPr>
          <a:xfrm>
            <a:off x="2954782" y="3781044"/>
            <a:ext cx="530352" cy="169164"/>
          </a:xfrm>
          <a:prstGeom prst="roundRect">
            <a:avLst>
              <a:gd name="adj" fmla="val 43243"/>
            </a:avLst>
          </a:prstGeom>
          <a:solidFill>
            <a:srgbClr val="FFFFFF"/>
          </a:solidFill>
          <a:ln w="12700">
            <a:solidFill>
              <a:srgbClr val="002C5F"/>
            </a:solidFill>
            <a:prstDash val="solid"/>
          </a:ln>
        </p:spPr>
      </p:sp>
      <p:sp>
        <p:nvSpPr>
          <p:cNvPr id="34" name="Text 29"/>
          <p:cNvSpPr/>
          <p:nvPr/>
        </p:nvSpPr>
        <p:spPr>
          <a:xfrm>
            <a:off x="2954782" y="3781044"/>
            <a:ext cx="530352" cy="169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02C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6004</a:t>
            </a:r>
            <a:endParaRPr lang="en-US" sz="850" dirty="0"/>
          </a:p>
        </p:txBody>
      </p:sp>
      <p:sp>
        <p:nvSpPr>
          <p:cNvPr id="35" name="Shape 30"/>
          <p:cNvSpPr/>
          <p:nvPr/>
        </p:nvSpPr>
        <p:spPr>
          <a:xfrm>
            <a:off x="4322978" y="2542032"/>
            <a:ext cx="3545738" cy="1517904"/>
          </a:xfrm>
          <a:prstGeom prst="roundRect">
            <a:avLst>
              <a:gd name="adj" fmla="val 3012"/>
            </a:avLst>
          </a:prstGeom>
          <a:solidFill>
            <a:srgbClr val="F4F6F9"/>
          </a:solidFill>
          <a:ln w="15875">
            <a:solidFill>
              <a:srgbClr val="D9DEE5"/>
            </a:solidFill>
            <a:prstDash val="solid"/>
          </a:ln>
        </p:spPr>
      </p:sp>
      <p:sp>
        <p:nvSpPr>
          <p:cNvPr id="36" name="Shape 31"/>
          <p:cNvSpPr/>
          <p:nvPr/>
        </p:nvSpPr>
        <p:spPr>
          <a:xfrm>
            <a:off x="4450994" y="2633472"/>
            <a:ext cx="3289706" cy="292608"/>
          </a:xfrm>
          <a:prstGeom prst="roundRect">
            <a:avLst>
              <a:gd name="adj" fmla="val 15625"/>
            </a:avLst>
          </a:prstGeom>
          <a:solidFill>
            <a:srgbClr val="002C5F"/>
          </a:solidFill>
          <a:ln/>
        </p:spPr>
      </p:sp>
      <p:sp>
        <p:nvSpPr>
          <p:cNvPr id="37" name="Text 32"/>
          <p:cNvSpPr/>
          <p:nvPr/>
        </p:nvSpPr>
        <p:spPr>
          <a:xfrm>
            <a:off x="4450994" y="2633472"/>
            <a:ext cx="328970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Center </a:t>
            </a: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DCMM1</a:t>
            </a:r>
            <a:endParaRPr lang="en-US" sz="1150" dirty="0"/>
          </a:p>
        </p:txBody>
      </p:sp>
      <p:pic>
        <p:nvPicPr>
          <p:cNvPr id="38" name="Image 3" descr="/home/claude/mip/ic/serv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59071" y="2999232"/>
            <a:ext cx="402336" cy="548640"/>
          </a:xfrm>
          <a:prstGeom prst="rect">
            <a:avLst/>
          </a:prstGeom>
        </p:spPr>
      </p:pic>
      <p:sp>
        <p:nvSpPr>
          <p:cNvPr id="39" name="Shape 33"/>
          <p:cNvSpPr/>
          <p:nvPr/>
        </p:nvSpPr>
        <p:spPr>
          <a:xfrm>
            <a:off x="4795063" y="3593592"/>
            <a:ext cx="530352" cy="169164"/>
          </a:xfrm>
          <a:prstGeom prst="roundRect">
            <a:avLst>
              <a:gd name="adj" fmla="val 43243"/>
            </a:avLst>
          </a:prstGeom>
          <a:solidFill>
            <a:srgbClr val="EC7000"/>
          </a:solidFill>
          <a:ln/>
        </p:spPr>
      </p:sp>
      <p:sp>
        <p:nvSpPr>
          <p:cNvPr id="40" name="Text 34"/>
          <p:cNvSpPr/>
          <p:nvPr/>
        </p:nvSpPr>
        <p:spPr>
          <a:xfrm>
            <a:off x="4795063" y="3593592"/>
            <a:ext cx="530352" cy="169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7004</a:t>
            </a:r>
            <a:endParaRPr lang="en-US" sz="850" dirty="0"/>
          </a:p>
        </p:txBody>
      </p:sp>
      <p:sp>
        <p:nvSpPr>
          <p:cNvPr id="41" name="Shape 35"/>
          <p:cNvSpPr/>
          <p:nvPr/>
        </p:nvSpPr>
        <p:spPr>
          <a:xfrm>
            <a:off x="4795063" y="3781044"/>
            <a:ext cx="530352" cy="169164"/>
          </a:xfrm>
          <a:prstGeom prst="roundRect">
            <a:avLst>
              <a:gd name="adj" fmla="val 43243"/>
            </a:avLst>
          </a:prstGeom>
          <a:solidFill>
            <a:srgbClr val="FFFFFF"/>
          </a:solidFill>
          <a:ln w="12700">
            <a:solidFill>
              <a:srgbClr val="002C5F"/>
            </a:solidFill>
            <a:prstDash val="solid"/>
          </a:ln>
        </p:spPr>
      </p:sp>
      <p:sp>
        <p:nvSpPr>
          <p:cNvPr id="42" name="Text 36"/>
          <p:cNvSpPr/>
          <p:nvPr/>
        </p:nvSpPr>
        <p:spPr>
          <a:xfrm>
            <a:off x="4795063" y="3781044"/>
            <a:ext cx="530352" cy="169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02C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6004</a:t>
            </a:r>
            <a:endParaRPr lang="en-US" sz="850" dirty="0"/>
          </a:p>
        </p:txBody>
      </p:sp>
      <p:pic>
        <p:nvPicPr>
          <p:cNvPr id="43" name="Image 4" descr="/home/claude/mip/ic/serv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94680" y="2999232"/>
            <a:ext cx="402336" cy="548640"/>
          </a:xfrm>
          <a:prstGeom prst="rect">
            <a:avLst/>
          </a:prstGeom>
        </p:spPr>
      </p:pic>
      <p:sp>
        <p:nvSpPr>
          <p:cNvPr id="44" name="Shape 37"/>
          <p:cNvSpPr/>
          <p:nvPr/>
        </p:nvSpPr>
        <p:spPr>
          <a:xfrm>
            <a:off x="5830672" y="3593592"/>
            <a:ext cx="530352" cy="169164"/>
          </a:xfrm>
          <a:prstGeom prst="roundRect">
            <a:avLst>
              <a:gd name="adj" fmla="val 43243"/>
            </a:avLst>
          </a:prstGeom>
          <a:solidFill>
            <a:srgbClr val="EC7000"/>
          </a:solidFill>
          <a:ln/>
        </p:spPr>
      </p:sp>
      <p:sp>
        <p:nvSpPr>
          <p:cNvPr id="45" name="Text 38"/>
          <p:cNvSpPr/>
          <p:nvPr/>
        </p:nvSpPr>
        <p:spPr>
          <a:xfrm>
            <a:off x="5830672" y="3593592"/>
            <a:ext cx="530352" cy="169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7004</a:t>
            </a:r>
            <a:endParaRPr lang="en-US" sz="850" dirty="0"/>
          </a:p>
        </p:txBody>
      </p:sp>
      <p:sp>
        <p:nvSpPr>
          <p:cNvPr id="46" name="Shape 39"/>
          <p:cNvSpPr/>
          <p:nvPr/>
        </p:nvSpPr>
        <p:spPr>
          <a:xfrm>
            <a:off x="5830672" y="3781044"/>
            <a:ext cx="530352" cy="169164"/>
          </a:xfrm>
          <a:prstGeom prst="roundRect">
            <a:avLst>
              <a:gd name="adj" fmla="val 43243"/>
            </a:avLst>
          </a:prstGeom>
          <a:solidFill>
            <a:srgbClr val="FFFFFF"/>
          </a:solidFill>
          <a:ln w="12700">
            <a:solidFill>
              <a:srgbClr val="002C5F"/>
            </a:solidFill>
            <a:prstDash val="solid"/>
          </a:ln>
        </p:spPr>
      </p:sp>
      <p:sp>
        <p:nvSpPr>
          <p:cNvPr id="47" name="Text 40"/>
          <p:cNvSpPr/>
          <p:nvPr/>
        </p:nvSpPr>
        <p:spPr>
          <a:xfrm>
            <a:off x="5830672" y="3781044"/>
            <a:ext cx="530352" cy="169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02C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6004</a:t>
            </a:r>
            <a:endParaRPr lang="en-US" sz="850" dirty="0"/>
          </a:p>
        </p:txBody>
      </p:sp>
      <p:pic>
        <p:nvPicPr>
          <p:cNvPr id="48" name="Image 5" descr="/home/claude/mip/ic/serv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30288" y="2999232"/>
            <a:ext cx="402336" cy="548640"/>
          </a:xfrm>
          <a:prstGeom prst="rect">
            <a:avLst/>
          </a:prstGeom>
        </p:spPr>
      </p:pic>
      <p:sp>
        <p:nvSpPr>
          <p:cNvPr id="49" name="Shape 41"/>
          <p:cNvSpPr/>
          <p:nvPr/>
        </p:nvSpPr>
        <p:spPr>
          <a:xfrm>
            <a:off x="6866280" y="3593592"/>
            <a:ext cx="530352" cy="169164"/>
          </a:xfrm>
          <a:prstGeom prst="roundRect">
            <a:avLst>
              <a:gd name="adj" fmla="val 43243"/>
            </a:avLst>
          </a:prstGeom>
          <a:solidFill>
            <a:srgbClr val="EC7000"/>
          </a:solidFill>
          <a:ln/>
        </p:spPr>
      </p:sp>
      <p:sp>
        <p:nvSpPr>
          <p:cNvPr id="50" name="Text 42"/>
          <p:cNvSpPr/>
          <p:nvPr/>
        </p:nvSpPr>
        <p:spPr>
          <a:xfrm>
            <a:off x="6866280" y="3593592"/>
            <a:ext cx="530352" cy="169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7004</a:t>
            </a:r>
            <a:endParaRPr lang="en-US" sz="850" dirty="0"/>
          </a:p>
        </p:txBody>
      </p:sp>
      <p:sp>
        <p:nvSpPr>
          <p:cNvPr id="51" name="Shape 43"/>
          <p:cNvSpPr/>
          <p:nvPr/>
        </p:nvSpPr>
        <p:spPr>
          <a:xfrm>
            <a:off x="6866280" y="3781044"/>
            <a:ext cx="530352" cy="169164"/>
          </a:xfrm>
          <a:prstGeom prst="roundRect">
            <a:avLst>
              <a:gd name="adj" fmla="val 43243"/>
            </a:avLst>
          </a:prstGeom>
          <a:solidFill>
            <a:srgbClr val="FFFFFF"/>
          </a:solidFill>
          <a:ln w="12700">
            <a:solidFill>
              <a:srgbClr val="002C5F"/>
            </a:solidFill>
            <a:prstDash val="solid"/>
          </a:ln>
        </p:spPr>
      </p:sp>
      <p:sp>
        <p:nvSpPr>
          <p:cNvPr id="52" name="Text 44"/>
          <p:cNvSpPr/>
          <p:nvPr/>
        </p:nvSpPr>
        <p:spPr>
          <a:xfrm>
            <a:off x="6866280" y="3781044"/>
            <a:ext cx="530352" cy="169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02C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6004</a:t>
            </a:r>
            <a:endParaRPr lang="en-US" sz="850" dirty="0"/>
          </a:p>
        </p:txBody>
      </p:sp>
      <p:sp>
        <p:nvSpPr>
          <p:cNvPr id="53" name="Shape 45"/>
          <p:cNvSpPr/>
          <p:nvPr/>
        </p:nvSpPr>
        <p:spPr>
          <a:xfrm>
            <a:off x="8234477" y="2542032"/>
            <a:ext cx="3545738" cy="1517904"/>
          </a:xfrm>
          <a:prstGeom prst="roundRect">
            <a:avLst>
              <a:gd name="adj" fmla="val 3012"/>
            </a:avLst>
          </a:prstGeom>
          <a:solidFill>
            <a:srgbClr val="F4F6F9"/>
          </a:solidFill>
          <a:ln w="15875">
            <a:solidFill>
              <a:srgbClr val="D9DEE5"/>
            </a:solidFill>
            <a:prstDash val="solid"/>
          </a:ln>
        </p:spPr>
      </p:sp>
      <p:sp>
        <p:nvSpPr>
          <p:cNvPr id="54" name="Shape 46"/>
          <p:cNvSpPr/>
          <p:nvPr/>
        </p:nvSpPr>
        <p:spPr>
          <a:xfrm>
            <a:off x="8362493" y="2633472"/>
            <a:ext cx="3289706" cy="292608"/>
          </a:xfrm>
          <a:prstGeom prst="roundRect">
            <a:avLst>
              <a:gd name="adj" fmla="val 15625"/>
            </a:avLst>
          </a:prstGeom>
          <a:solidFill>
            <a:srgbClr val="002C5F"/>
          </a:solidFill>
          <a:ln/>
        </p:spPr>
      </p:sp>
      <p:sp>
        <p:nvSpPr>
          <p:cNvPr id="55" name="Text 47"/>
          <p:cNvSpPr/>
          <p:nvPr/>
        </p:nvSpPr>
        <p:spPr>
          <a:xfrm>
            <a:off x="8362493" y="2633472"/>
            <a:ext cx="328970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Center </a:t>
            </a: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DCMM2</a:t>
            </a:r>
            <a:endParaRPr lang="en-US" sz="1150" dirty="0"/>
          </a:p>
        </p:txBody>
      </p:sp>
      <p:pic>
        <p:nvPicPr>
          <p:cNvPr id="56" name="Image 6" descr="/home/claude/mip/ic/serv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70569" y="2999232"/>
            <a:ext cx="402336" cy="548640"/>
          </a:xfrm>
          <a:prstGeom prst="rect">
            <a:avLst/>
          </a:prstGeom>
        </p:spPr>
      </p:pic>
      <p:sp>
        <p:nvSpPr>
          <p:cNvPr id="57" name="Shape 48"/>
          <p:cNvSpPr/>
          <p:nvPr/>
        </p:nvSpPr>
        <p:spPr>
          <a:xfrm>
            <a:off x="8706561" y="3593592"/>
            <a:ext cx="530352" cy="169164"/>
          </a:xfrm>
          <a:prstGeom prst="roundRect">
            <a:avLst>
              <a:gd name="adj" fmla="val 43243"/>
            </a:avLst>
          </a:prstGeom>
          <a:solidFill>
            <a:srgbClr val="EC7000"/>
          </a:solidFill>
          <a:ln/>
        </p:spPr>
      </p:sp>
      <p:sp>
        <p:nvSpPr>
          <p:cNvPr id="58" name="Text 49"/>
          <p:cNvSpPr/>
          <p:nvPr/>
        </p:nvSpPr>
        <p:spPr>
          <a:xfrm>
            <a:off x="8706561" y="3593592"/>
            <a:ext cx="530352" cy="169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7004</a:t>
            </a:r>
            <a:endParaRPr lang="en-US" sz="850" dirty="0"/>
          </a:p>
        </p:txBody>
      </p:sp>
      <p:sp>
        <p:nvSpPr>
          <p:cNvPr id="59" name="Shape 50"/>
          <p:cNvSpPr/>
          <p:nvPr/>
        </p:nvSpPr>
        <p:spPr>
          <a:xfrm>
            <a:off x="8706561" y="3781044"/>
            <a:ext cx="530352" cy="169164"/>
          </a:xfrm>
          <a:prstGeom prst="roundRect">
            <a:avLst>
              <a:gd name="adj" fmla="val 43243"/>
            </a:avLst>
          </a:prstGeom>
          <a:solidFill>
            <a:srgbClr val="FFFFFF"/>
          </a:solidFill>
          <a:ln w="12700">
            <a:solidFill>
              <a:srgbClr val="002C5F"/>
            </a:solidFill>
            <a:prstDash val="solid"/>
          </a:ln>
        </p:spPr>
      </p:sp>
      <p:sp>
        <p:nvSpPr>
          <p:cNvPr id="60" name="Text 51"/>
          <p:cNvSpPr/>
          <p:nvPr/>
        </p:nvSpPr>
        <p:spPr>
          <a:xfrm>
            <a:off x="8706561" y="3781044"/>
            <a:ext cx="530352" cy="169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02C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6004</a:t>
            </a:r>
            <a:endParaRPr lang="en-US" sz="850" dirty="0"/>
          </a:p>
        </p:txBody>
      </p:sp>
      <p:pic>
        <p:nvPicPr>
          <p:cNvPr id="61" name="Image 7" descr="/home/claude/mip/ic/serv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06178" y="2999232"/>
            <a:ext cx="402336" cy="548640"/>
          </a:xfrm>
          <a:prstGeom prst="rect">
            <a:avLst/>
          </a:prstGeom>
        </p:spPr>
      </p:pic>
      <p:sp>
        <p:nvSpPr>
          <p:cNvPr id="62" name="Shape 52"/>
          <p:cNvSpPr/>
          <p:nvPr/>
        </p:nvSpPr>
        <p:spPr>
          <a:xfrm>
            <a:off x="9742170" y="3593592"/>
            <a:ext cx="530352" cy="169164"/>
          </a:xfrm>
          <a:prstGeom prst="roundRect">
            <a:avLst>
              <a:gd name="adj" fmla="val 43243"/>
            </a:avLst>
          </a:prstGeom>
          <a:solidFill>
            <a:srgbClr val="EC7000"/>
          </a:solidFill>
          <a:ln/>
        </p:spPr>
      </p:sp>
      <p:sp>
        <p:nvSpPr>
          <p:cNvPr id="63" name="Text 53"/>
          <p:cNvSpPr/>
          <p:nvPr/>
        </p:nvSpPr>
        <p:spPr>
          <a:xfrm>
            <a:off x="9742170" y="3593592"/>
            <a:ext cx="530352" cy="169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7004</a:t>
            </a:r>
            <a:endParaRPr lang="en-US" sz="850" dirty="0"/>
          </a:p>
        </p:txBody>
      </p:sp>
      <p:sp>
        <p:nvSpPr>
          <p:cNvPr id="64" name="Shape 54"/>
          <p:cNvSpPr/>
          <p:nvPr/>
        </p:nvSpPr>
        <p:spPr>
          <a:xfrm>
            <a:off x="9742170" y="3781044"/>
            <a:ext cx="530352" cy="169164"/>
          </a:xfrm>
          <a:prstGeom prst="roundRect">
            <a:avLst>
              <a:gd name="adj" fmla="val 43243"/>
            </a:avLst>
          </a:prstGeom>
          <a:solidFill>
            <a:srgbClr val="FFFFFF"/>
          </a:solidFill>
          <a:ln w="12700">
            <a:solidFill>
              <a:srgbClr val="002C5F"/>
            </a:solidFill>
            <a:prstDash val="solid"/>
          </a:ln>
        </p:spPr>
      </p:sp>
      <p:sp>
        <p:nvSpPr>
          <p:cNvPr id="65" name="Text 55"/>
          <p:cNvSpPr/>
          <p:nvPr/>
        </p:nvSpPr>
        <p:spPr>
          <a:xfrm>
            <a:off x="9742170" y="3781044"/>
            <a:ext cx="530352" cy="169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02C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6004</a:t>
            </a:r>
            <a:endParaRPr lang="en-US" sz="850" dirty="0"/>
          </a:p>
        </p:txBody>
      </p:sp>
      <p:pic>
        <p:nvPicPr>
          <p:cNvPr id="66" name="Image 8" descr="/home/claude/mip/ic/serv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41787" y="2999232"/>
            <a:ext cx="402336" cy="548640"/>
          </a:xfrm>
          <a:prstGeom prst="rect">
            <a:avLst/>
          </a:prstGeom>
        </p:spPr>
      </p:pic>
      <p:sp>
        <p:nvSpPr>
          <p:cNvPr id="67" name="Shape 56"/>
          <p:cNvSpPr/>
          <p:nvPr/>
        </p:nvSpPr>
        <p:spPr>
          <a:xfrm>
            <a:off x="10777779" y="3593592"/>
            <a:ext cx="530352" cy="169164"/>
          </a:xfrm>
          <a:prstGeom prst="roundRect">
            <a:avLst>
              <a:gd name="adj" fmla="val 43243"/>
            </a:avLst>
          </a:prstGeom>
          <a:solidFill>
            <a:srgbClr val="EC7000"/>
          </a:solidFill>
          <a:ln/>
        </p:spPr>
      </p:sp>
      <p:sp>
        <p:nvSpPr>
          <p:cNvPr id="68" name="Text 57"/>
          <p:cNvSpPr/>
          <p:nvPr/>
        </p:nvSpPr>
        <p:spPr>
          <a:xfrm>
            <a:off x="10777779" y="3593592"/>
            <a:ext cx="530352" cy="169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7004</a:t>
            </a:r>
            <a:endParaRPr lang="en-US" sz="850" dirty="0"/>
          </a:p>
        </p:txBody>
      </p:sp>
      <p:sp>
        <p:nvSpPr>
          <p:cNvPr id="69" name="Shape 58"/>
          <p:cNvSpPr/>
          <p:nvPr/>
        </p:nvSpPr>
        <p:spPr>
          <a:xfrm>
            <a:off x="10777779" y="3781044"/>
            <a:ext cx="530352" cy="169164"/>
          </a:xfrm>
          <a:prstGeom prst="roundRect">
            <a:avLst>
              <a:gd name="adj" fmla="val 43243"/>
            </a:avLst>
          </a:prstGeom>
          <a:solidFill>
            <a:srgbClr val="FFFFFF"/>
          </a:solidFill>
          <a:ln w="12700">
            <a:solidFill>
              <a:srgbClr val="002C5F"/>
            </a:solidFill>
            <a:prstDash val="solid"/>
          </a:ln>
        </p:spPr>
      </p:sp>
      <p:sp>
        <p:nvSpPr>
          <p:cNvPr id="70" name="Text 59"/>
          <p:cNvSpPr/>
          <p:nvPr/>
        </p:nvSpPr>
        <p:spPr>
          <a:xfrm>
            <a:off x="10777779" y="3781044"/>
            <a:ext cx="530352" cy="169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02C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6004</a:t>
            </a:r>
            <a:endParaRPr lang="en-US" sz="850" dirty="0"/>
          </a:p>
        </p:txBody>
      </p:sp>
      <p:sp>
        <p:nvSpPr>
          <p:cNvPr id="71" name="Shape 60"/>
          <p:cNvSpPr/>
          <p:nvPr/>
        </p:nvSpPr>
        <p:spPr>
          <a:xfrm>
            <a:off x="2184349" y="4059936"/>
            <a:ext cx="0" cy="182880"/>
          </a:xfrm>
          <a:prstGeom prst="line">
            <a:avLst/>
          </a:prstGeom>
          <a:noFill/>
          <a:ln w="25400">
            <a:solidFill>
              <a:srgbClr val="002C5F"/>
            </a:solidFill>
            <a:prstDash val="solid"/>
          </a:ln>
        </p:spPr>
      </p:sp>
      <p:sp>
        <p:nvSpPr>
          <p:cNvPr id="72" name="Shape 61"/>
          <p:cNvSpPr/>
          <p:nvPr/>
        </p:nvSpPr>
        <p:spPr>
          <a:xfrm>
            <a:off x="6095848" y="4059936"/>
            <a:ext cx="0" cy="182880"/>
          </a:xfrm>
          <a:prstGeom prst="line">
            <a:avLst/>
          </a:prstGeom>
          <a:noFill/>
          <a:ln w="25400">
            <a:solidFill>
              <a:srgbClr val="002C5F"/>
            </a:solidFill>
            <a:prstDash val="solid"/>
          </a:ln>
        </p:spPr>
      </p:sp>
      <p:sp>
        <p:nvSpPr>
          <p:cNvPr id="73" name="Shape 62"/>
          <p:cNvSpPr/>
          <p:nvPr/>
        </p:nvSpPr>
        <p:spPr>
          <a:xfrm>
            <a:off x="10007346" y="4059936"/>
            <a:ext cx="0" cy="182880"/>
          </a:xfrm>
          <a:prstGeom prst="line">
            <a:avLst/>
          </a:prstGeom>
          <a:noFill/>
          <a:ln w="25400">
            <a:solidFill>
              <a:srgbClr val="002C5F"/>
            </a:solidFill>
            <a:prstDash val="solid"/>
          </a:ln>
        </p:spPr>
      </p:sp>
      <p:sp>
        <p:nvSpPr>
          <p:cNvPr id="74" name="Shape 63"/>
          <p:cNvSpPr/>
          <p:nvPr/>
        </p:nvSpPr>
        <p:spPr>
          <a:xfrm>
            <a:off x="2184349" y="4242816"/>
            <a:ext cx="7822997" cy="0"/>
          </a:xfrm>
          <a:prstGeom prst="line">
            <a:avLst/>
          </a:prstGeom>
          <a:noFill/>
          <a:ln w="25400">
            <a:solidFill>
              <a:srgbClr val="002C5F"/>
            </a:solidFill>
            <a:prstDash val="solid"/>
          </a:ln>
        </p:spPr>
      </p:sp>
      <p:sp>
        <p:nvSpPr>
          <p:cNvPr id="75" name="Shape 64"/>
          <p:cNvSpPr/>
          <p:nvPr/>
        </p:nvSpPr>
        <p:spPr>
          <a:xfrm flipH="1">
            <a:off x="4322978" y="4261104"/>
            <a:ext cx="1771497" cy="292608"/>
          </a:xfrm>
          <a:prstGeom prst="line">
            <a:avLst/>
          </a:prstGeom>
          <a:noFill/>
          <a:ln w="44450">
            <a:solidFill>
              <a:srgbClr val="EC7000"/>
            </a:solidFill>
            <a:prstDash val="solid"/>
            <a:tailEnd type="triangle"/>
          </a:ln>
        </p:spPr>
      </p:sp>
      <p:sp>
        <p:nvSpPr>
          <p:cNvPr id="76" name="Shape 65"/>
          <p:cNvSpPr/>
          <p:nvPr/>
        </p:nvSpPr>
        <p:spPr>
          <a:xfrm>
            <a:off x="6094476" y="4242816"/>
            <a:ext cx="2253996" cy="310896"/>
          </a:xfrm>
          <a:prstGeom prst="line">
            <a:avLst/>
          </a:prstGeom>
          <a:noFill/>
          <a:ln w="38100">
            <a:solidFill>
              <a:srgbClr val="002C5F"/>
            </a:solidFill>
            <a:prstDash val="dash"/>
            <a:tailEnd type="triangle"/>
          </a:ln>
        </p:spPr>
      </p:sp>
      <p:sp>
        <p:nvSpPr>
          <p:cNvPr id="77" name="Text 66"/>
          <p:cNvSpPr/>
          <p:nvPr/>
        </p:nvSpPr>
        <p:spPr>
          <a:xfrm>
            <a:off x="3657600" y="4261104"/>
            <a:ext cx="1554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EC7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7004 · primário</a:t>
            </a:r>
            <a:endParaRPr lang="en-US" sz="950" dirty="0"/>
          </a:p>
        </p:txBody>
      </p:sp>
      <p:sp>
        <p:nvSpPr>
          <p:cNvPr id="78" name="Text 67"/>
          <p:cNvSpPr/>
          <p:nvPr/>
        </p:nvSpPr>
        <p:spPr>
          <a:xfrm>
            <a:off x="6976872" y="4261104"/>
            <a:ext cx="1554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002C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6004 · contingência</a:t>
            </a:r>
            <a:endParaRPr lang="en-US" sz="950" dirty="0"/>
          </a:p>
        </p:txBody>
      </p:sp>
      <p:sp>
        <p:nvSpPr>
          <p:cNvPr id="79" name="Shape 68"/>
          <p:cNvSpPr/>
          <p:nvPr/>
        </p:nvSpPr>
        <p:spPr>
          <a:xfrm>
            <a:off x="1828800" y="4553712"/>
            <a:ext cx="4023360" cy="13716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25400">
            <a:solidFill>
              <a:srgbClr val="EC7000"/>
            </a:solidFill>
            <a:prstDash val="solid"/>
          </a:ln>
          <a:effectLst>
            <a:outerShdw blurRad="76200" dist="25400" dir="5400000" algn="bl" rotWithShape="0">
              <a:srgbClr val="9AA6B4">
                <a:alpha val="20000"/>
              </a:srgbClr>
            </a:outerShdw>
          </a:effectLst>
        </p:spPr>
      </p:sp>
      <p:sp>
        <p:nvSpPr>
          <p:cNvPr id="80" name="Shape 69"/>
          <p:cNvSpPr/>
          <p:nvPr/>
        </p:nvSpPr>
        <p:spPr>
          <a:xfrm>
            <a:off x="5065776" y="4700016"/>
            <a:ext cx="621792" cy="256032"/>
          </a:xfrm>
          <a:prstGeom prst="roundRect">
            <a:avLst>
              <a:gd name="adj" fmla="val 50000"/>
            </a:avLst>
          </a:prstGeom>
          <a:solidFill>
            <a:srgbClr val="EC7000"/>
          </a:solidFill>
          <a:ln/>
        </p:spPr>
      </p:sp>
      <p:sp>
        <p:nvSpPr>
          <p:cNvPr id="81" name="Text 70"/>
          <p:cNvSpPr/>
          <p:nvPr/>
        </p:nvSpPr>
        <p:spPr>
          <a:xfrm>
            <a:off x="5065776" y="4700016"/>
            <a:ext cx="6217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7004</a:t>
            </a:r>
            <a:endParaRPr lang="en-US" sz="1000" dirty="0"/>
          </a:p>
        </p:txBody>
      </p:sp>
      <p:pic>
        <p:nvPicPr>
          <p:cNvPr id="82" name="Image 9" descr="/home/claude/mip/ic/clou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84832" y="5056632"/>
            <a:ext cx="786384" cy="508406"/>
          </a:xfrm>
          <a:prstGeom prst="rect">
            <a:avLst/>
          </a:prstGeom>
        </p:spPr>
      </p:pic>
      <p:sp>
        <p:nvSpPr>
          <p:cNvPr id="83" name="Text 71"/>
          <p:cNvSpPr/>
          <p:nvPr/>
        </p:nvSpPr>
        <p:spPr>
          <a:xfrm>
            <a:off x="3017520" y="493776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02C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AWS</a:t>
            </a:r>
            <a:endParaRPr lang="en-US" sz="1500" dirty="0"/>
          </a:p>
        </p:txBody>
      </p:sp>
      <p:sp>
        <p:nvSpPr>
          <p:cNvPr id="84" name="Text 72"/>
          <p:cNvSpPr/>
          <p:nvPr/>
        </p:nvSpPr>
        <p:spPr>
          <a:xfrm>
            <a:off x="3017520" y="5321808"/>
            <a:ext cx="2651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A67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fluxo primário — conexão direta (produção)</a:t>
            </a:r>
            <a:endParaRPr lang="en-US" sz="1100" dirty="0"/>
          </a:p>
        </p:txBody>
      </p:sp>
      <p:sp>
        <p:nvSpPr>
          <p:cNvPr id="85" name="Shape 73"/>
          <p:cNvSpPr/>
          <p:nvPr/>
        </p:nvSpPr>
        <p:spPr>
          <a:xfrm>
            <a:off x="6336792" y="4553712"/>
            <a:ext cx="4023360" cy="1371600"/>
          </a:xfrm>
          <a:prstGeom prst="roundRect">
            <a:avLst>
              <a:gd name="adj" fmla="val 4000"/>
            </a:avLst>
          </a:prstGeom>
          <a:solidFill>
            <a:srgbClr val="F7F9FB"/>
          </a:solidFill>
          <a:ln w="25400">
            <a:solidFill>
              <a:srgbClr val="002C5F"/>
            </a:solidFill>
            <a:prstDash val="dash"/>
          </a:ln>
        </p:spPr>
      </p:sp>
      <p:sp>
        <p:nvSpPr>
          <p:cNvPr id="86" name="Shape 74"/>
          <p:cNvSpPr/>
          <p:nvPr/>
        </p:nvSpPr>
        <p:spPr>
          <a:xfrm>
            <a:off x="9573768" y="4700016"/>
            <a:ext cx="621792" cy="25603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002C5F"/>
            </a:solidFill>
            <a:prstDash val="solid"/>
          </a:ln>
        </p:spPr>
      </p:sp>
      <p:sp>
        <p:nvSpPr>
          <p:cNvPr id="87" name="Text 75"/>
          <p:cNvSpPr/>
          <p:nvPr/>
        </p:nvSpPr>
        <p:spPr>
          <a:xfrm>
            <a:off x="9573768" y="4700016"/>
            <a:ext cx="6217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2C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6004</a:t>
            </a:r>
            <a:endParaRPr lang="en-US" sz="1000" dirty="0"/>
          </a:p>
        </p:txBody>
      </p:sp>
      <p:pic>
        <p:nvPicPr>
          <p:cNvPr id="88" name="Image 10" descr="/home/claude/mip/ic/mainfram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11112" y="5010912"/>
            <a:ext cx="603504" cy="566928"/>
          </a:xfrm>
          <a:prstGeom prst="rect">
            <a:avLst/>
          </a:prstGeom>
        </p:spPr>
      </p:pic>
      <p:sp>
        <p:nvSpPr>
          <p:cNvPr id="89" name="Text 76"/>
          <p:cNvSpPr/>
          <p:nvPr/>
        </p:nvSpPr>
        <p:spPr>
          <a:xfrm>
            <a:off x="7379208" y="493776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2C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On-premise · CICS 1 · Z2</a:t>
            </a:r>
            <a:endParaRPr lang="en-US" sz="1400" dirty="0"/>
          </a:p>
        </p:txBody>
      </p:sp>
      <p:sp>
        <p:nvSpPr>
          <p:cNvPr id="90" name="Text 77"/>
          <p:cNvSpPr/>
          <p:nvPr/>
        </p:nvSpPr>
        <p:spPr>
          <a:xfrm>
            <a:off x="7379208" y="5321808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A67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contingência / failover</a:t>
            </a:r>
            <a:endParaRPr lang="en-US" sz="1100" dirty="0"/>
          </a:p>
        </p:txBody>
      </p:sp>
      <p:sp>
        <p:nvSpPr>
          <p:cNvPr id="91" name="Text 78"/>
          <p:cNvSpPr/>
          <p:nvPr/>
        </p:nvSpPr>
        <p:spPr>
          <a:xfrm>
            <a:off x="411480" y="6016752"/>
            <a:ext cx="1136873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5A67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 intermediação de fila: os MIPs conectam direto na Cloud (7004); o on-premise (6004) é acionado apenas em contingência.</a:t>
            </a:r>
            <a:endParaRPr lang="en-US" sz="1000" dirty="0"/>
          </a:p>
        </p:txBody>
      </p:sp>
      <p:sp>
        <p:nvSpPr>
          <p:cNvPr id="92" name="Text 79"/>
          <p:cNvSpPr/>
          <p:nvPr/>
        </p:nvSpPr>
        <p:spPr>
          <a:xfrm>
            <a:off x="411480" y="6455664"/>
            <a:ext cx="10058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67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Mastercard Interface Processor (MIP)  ·  Autorizador de Débito  ·  Itaú Unibanco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353</Words>
  <Application>Microsoft Office PowerPoint</Application>
  <PresentationFormat>Widescreen</PresentationFormat>
  <Paragraphs>76</Paragraphs>
  <Slides>2</Slides>
  <Notes>2</Notes>
  <HiddenSlides>0</HiddenSlides>
  <MMClips>0</MMClips>
  <ScaleCrop>false</ScaleCrop>
  <HeadingPairs>
    <vt:vector size="6" baseType="variant">
      <vt:variant>
        <vt:lpstr>Fontes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Apresentação do PowerPoint</vt:lpstr>
      <vt:lpstr>Apresentação do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MIP - Topologia Atual e TO-BE</dc:title>
  <dc:subject>PptxGenJS Presentation</dc:subject>
  <dc:creator>PptxGenJS</dc:creator>
  <cp:lastModifiedBy>MARCELO GABRIEL</cp:lastModifiedBy>
  <cp:revision>2</cp:revision>
  <dcterms:created xsi:type="dcterms:W3CDTF">2026-07-06T20:28:57Z</dcterms:created>
  <dcterms:modified xsi:type="dcterms:W3CDTF">2026-07-06T20:33:46Z</dcterms:modified>
</cp:coreProperties>
</file>