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FD9AC5D-16F9-0873-21AA-CADDA7E7D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270D79-2D07-A8F2-1454-1CCAE95CE7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0CEFA-C8A4-4B7A-9B0D-63AA412EE1FC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968F48DC-8F16-6429-586F-0C10DEDCD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A3381CA-FF8E-CA7D-FB9F-2AEE0DCD6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4B12BF-EDC5-5911-3C2A-CEB5C2A94D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E1797B-028D-F509-E317-7960E261E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B3B6D-9E27-48D3-B055-2B3FEC59EE4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77E74A-36BC-4E79-858A-AFC721A1E12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27432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02C5F"/>
                </a:solidFill>
                <a:latin typeface="Calibri"/>
                <a:ea typeface="Calibri"/>
              </a:rPr>
              <a:t>Modernização Visa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57200" y="78624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776"/>
                </a:solidFill>
                <a:latin typeface="Calibri"/>
                <a:ea typeface="Calibri"/>
              </a:rPr>
              <a:t>Transações remanescentes no </a:t>
            </a:r>
            <a:r>
              <a:rPr lang="en-US" sz="1350" b="1" strike="noStrike" spc="-1">
                <a:solidFill>
                  <a:srgbClr val="C0392B"/>
                </a:solidFill>
                <a:latin typeface="Calibri"/>
                <a:ea typeface="Calibri"/>
              </a:rPr>
              <a:t>legado</a:t>
            </a:r>
            <a:r>
              <a:rPr lang="en-US" sz="1350" b="0" strike="noStrike" spc="-1">
                <a:solidFill>
                  <a:srgbClr val="5A6776"/>
                </a:solidFill>
                <a:latin typeface="Calibri"/>
                <a:ea typeface="Calibri"/>
              </a:rPr>
              <a:t> redirecionadas ao </a:t>
            </a:r>
            <a:r>
              <a:rPr lang="en-US" sz="1350" b="1" strike="noStrike" spc="-1">
                <a:solidFill>
                  <a:srgbClr val="1B7A4B"/>
                </a:solidFill>
                <a:latin typeface="Calibri"/>
                <a:ea typeface="Calibri"/>
              </a:rPr>
              <a:t>ambiente modernizado</a:t>
            </a:r>
            <a:r>
              <a:rPr lang="en-US" sz="1350" b="0" strike="noStrike" spc="-1">
                <a:solidFill>
                  <a:srgbClr val="5A6776"/>
                </a:solidFill>
                <a:latin typeface="Calibri"/>
                <a:ea typeface="Calibri"/>
              </a:rPr>
              <a:t>  ·  </a:t>
            </a:r>
            <a:r>
              <a:rPr lang="en-US" sz="1350" b="1" strike="noStrike" spc="-1">
                <a:solidFill>
                  <a:srgbClr val="EC7000"/>
                </a:solidFill>
                <a:latin typeface="Calibri"/>
                <a:ea typeface="Calibri"/>
              </a:rPr>
              <a:t>Cloud AWS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457200" y="1234440"/>
            <a:ext cx="3840120" cy="2852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685800" y="1435680"/>
            <a:ext cx="502560" cy="502560"/>
          </a:xfrm>
          <a:prstGeom prst="roundRect">
            <a:avLst>
              <a:gd name="adj" fmla="val 18182"/>
            </a:avLst>
          </a:prstGeom>
          <a:solidFill>
            <a:srgbClr val="002C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3"/>
          <a:stretch/>
        </p:blipFill>
        <p:spPr>
          <a:xfrm>
            <a:off x="809280" y="1559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1" name="Text 4"/>
          <p:cNvSpPr/>
          <p:nvPr/>
        </p:nvSpPr>
        <p:spPr>
          <a:xfrm>
            <a:off x="1298520" y="143568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002C5F"/>
                </a:solidFill>
                <a:latin typeface="Calibri"/>
                <a:ea typeface="Calibri"/>
              </a:rPr>
              <a:t>Ações realizadas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5"/>
          <p:cNvSpPr/>
          <p:nvPr/>
        </p:nvSpPr>
        <p:spPr>
          <a:xfrm>
            <a:off x="704160" y="2103120"/>
            <a:ext cx="273960" cy="273960"/>
          </a:xfrm>
          <a:prstGeom prst="ellipse">
            <a:avLst/>
          </a:prstGeom>
          <a:solidFill>
            <a:srgbClr val="EC7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6"/>
          <p:cNvSpPr/>
          <p:nvPr/>
        </p:nvSpPr>
        <p:spPr>
          <a:xfrm>
            <a:off x="704160" y="21031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078920" y="205740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002C5F"/>
                </a:solidFill>
                <a:latin typeface="Calibri"/>
                <a:ea typeface="Calibri"/>
              </a:rPr>
              <a:t>Análise/investigação do motivo do desvio ao legado (mainframe).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704160" y="2651760"/>
            <a:ext cx="273960" cy="273960"/>
          </a:xfrm>
          <a:prstGeom prst="ellipse">
            <a:avLst/>
          </a:prstGeom>
          <a:solidFill>
            <a:srgbClr val="EC7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04160" y="2651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078920" y="26060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002C5F"/>
                </a:solidFill>
                <a:latin typeface="Calibri"/>
                <a:ea typeface="Calibri"/>
              </a:rPr>
              <a:t>Alteração das regras de roteamento para o ambiente modernizado.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704160" y="3200400"/>
            <a:ext cx="273960" cy="273960"/>
          </a:xfrm>
          <a:prstGeom prst="ellipse">
            <a:avLst/>
          </a:prstGeom>
          <a:solidFill>
            <a:srgbClr val="EC7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04160" y="3200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1078920" y="315468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002C5F"/>
                </a:solidFill>
                <a:latin typeface="Calibri"/>
                <a:ea typeface="Calibri"/>
              </a:rPr>
              <a:t>Correção do cenário de cartão múltiplo — ação principal.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85800" y="3630240"/>
            <a:ext cx="3382920" cy="328680"/>
          </a:xfrm>
          <a:prstGeom prst="roundRect">
            <a:avLst>
              <a:gd name="adj" fmla="val 13889"/>
            </a:avLst>
          </a:prstGeom>
          <a:solidFill>
            <a:srgbClr val="F4F6F9"/>
          </a:solidFill>
          <a:ln w="12700">
            <a:solidFill>
              <a:srgbClr val="D9D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77240" y="363024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5A6776"/>
                </a:solidFill>
                <a:latin typeface="Calibri"/>
                <a:ea typeface="Calibri"/>
              </a:rPr>
              <a:t>Houve outras ações; esta foi a principal implementada.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526280" y="1234440"/>
            <a:ext cx="7177680" cy="2852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EE5"/>
            </a:solidFill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754880" y="1435680"/>
            <a:ext cx="502560" cy="502560"/>
          </a:xfrm>
          <a:prstGeom prst="roundRect">
            <a:avLst>
              <a:gd name="adj" fmla="val 18182"/>
            </a:avLst>
          </a:prstGeom>
          <a:solidFill>
            <a:srgbClr val="EC7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" name="Image 1" descr="preencoded.png"/>
          <p:cNvPicPr/>
          <p:nvPr/>
        </p:nvPicPr>
        <p:blipFill>
          <a:blip r:embed="rId4"/>
          <a:stretch/>
        </p:blipFill>
        <p:spPr>
          <a:xfrm>
            <a:off x="4878360" y="1559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" name="Text 18"/>
          <p:cNvSpPr/>
          <p:nvPr/>
        </p:nvSpPr>
        <p:spPr>
          <a:xfrm>
            <a:off x="5367600" y="1435680"/>
            <a:ext cx="6171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002C5F"/>
                </a:solidFill>
                <a:latin typeface="Calibri"/>
                <a:ea typeface="Calibri"/>
              </a:rPr>
              <a:t>Cenário principal — cartão múltiplo (débito via crédito)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782240" y="2002680"/>
            <a:ext cx="6665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A6776"/>
                </a:solidFill>
                <a:latin typeface="Calibri"/>
                <a:ea typeface="Calibri"/>
              </a:rPr>
              <a:t>A Visa enviava a transação de débito pelo ambiente de crédito. Ao detectar cartão múltiplo com compra na função débito, o fluxo era desviado e processado no legado. O roteamento foi corrigido para o ambiente modernizado.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82240" y="2779920"/>
            <a:ext cx="749520" cy="420120"/>
          </a:xfrm>
          <a:prstGeom prst="roundRect">
            <a:avLst>
              <a:gd name="adj" fmla="val 15217"/>
            </a:avLst>
          </a:prstGeom>
          <a:solidFill>
            <a:srgbClr val="C039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782240" y="2779920"/>
            <a:ext cx="7495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ANTES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715000" y="271584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5742360" y="271584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Visa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7058880" y="2989800"/>
            <a:ext cx="146520" cy="360"/>
          </a:xfrm>
          <a:prstGeom prst="line">
            <a:avLst/>
          </a:prstGeom>
          <a:ln w="22225">
            <a:solidFill>
              <a:srgbClr val="C039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7214760" y="271584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242120" y="271584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Cartões / Crédito (DV)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8558640" y="2989800"/>
            <a:ext cx="146160" cy="360"/>
          </a:xfrm>
          <a:prstGeom prst="line">
            <a:avLst/>
          </a:prstGeom>
          <a:ln w="22225">
            <a:solidFill>
              <a:srgbClr val="C039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8714160" y="271584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741520" y="271584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CICS Débito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10058400" y="2989800"/>
            <a:ext cx="146160" cy="360"/>
          </a:xfrm>
          <a:prstGeom prst="line">
            <a:avLst/>
          </a:prstGeom>
          <a:ln w="22225">
            <a:solidFill>
              <a:srgbClr val="C039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0213920" y="271584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397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10241280" y="271584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strike="noStrike" spc="-1">
                <a:solidFill>
                  <a:srgbClr val="FFFFFF"/>
                </a:solidFill>
                <a:latin typeface="Calibri"/>
                <a:ea typeface="Calibri"/>
              </a:rPr>
              <a:t>Autorizador Legado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4782240" y="3511440"/>
            <a:ext cx="749520" cy="420120"/>
          </a:xfrm>
          <a:prstGeom prst="roundRect">
            <a:avLst>
              <a:gd name="adj" fmla="val 15217"/>
            </a:avLst>
          </a:prstGeom>
          <a:solidFill>
            <a:srgbClr val="1B7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4782240" y="3511440"/>
            <a:ext cx="7495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DEPOIS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5715000" y="344736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5742360" y="34473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Visa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7058880" y="3721320"/>
            <a:ext cx="146520" cy="360"/>
          </a:xfrm>
          <a:prstGeom prst="line">
            <a:avLst/>
          </a:prstGeom>
          <a:ln w="22225">
            <a:solidFill>
              <a:srgbClr val="1B7A4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214760" y="344736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242120" y="34473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Cartões / Crédito (DV)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8558640" y="3721320"/>
            <a:ext cx="146160" cy="360"/>
          </a:xfrm>
          <a:prstGeom prst="line">
            <a:avLst/>
          </a:prstGeom>
          <a:ln w="22225">
            <a:solidFill>
              <a:srgbClr val="1B7A4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8714160" y="344736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2C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8741520" y="34473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strike="noStrike" spc="-1">
                <a:solidFill>
                  <a:srgbClr val="002C5F"/>
                </a:solidFill>
                <a:latin typeface="Calibri"/>
                <a:ea typeface="Calibri"/>
              </a:rPr>
              <a:t>CICS Débito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10058400" y="3721320"/>
            <a:ext cx="146160" cy="360"/>
          </a:xfrm>
          <a:prstGeom prst="line">
            <a:avLst/>
          </a:prstGeom>
          <a:ln w="22225">
            <a:solidFill>
              <a:srgbClr val="1B7A4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10213920" y="3447360"/>
            <a:ext cx="1334520" cy="548280"/>
          </a:xfrm>
          <a:prstGeom prst="roundRect">
            <a:avLst>
              <a:gd name="adj" fmla="val 10000"/>
            </a:avLst>
          </a:prstGeom>
          <a:solidFill>
            <a:srgbClr val="1B7A4B"/>
          </a:solidFill>
          <a:ln w="13970">
            <a:solidFill>
              <a:srgbClr val="1B7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241280" y="34473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strike="noStrike" spc="-1">
                <a:solidFill>
                  <a:srgbClr val="FFFFFF"/>
                </a:solidFill>
                <a:latin typeface="Calibri"/>
                <a:ea typeface="Calibri"/>
              </a:rPr>
              <a:t>Autorizador Modernizado</a:t>
            </a:r>
            <a:endParaRPr lang="en-U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457200" y="4224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2C5F"/>
                </a:solidFill>
                <a:latin typeface="Calibri"/>
                <a:ea typeface="Calibri"/>
              </a:rPr>
              <a:t>Roteamento atual — resultado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640080" y="5074920"/>
            <a:ext cx="169128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002C5F"/>
            </a:solidFill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 2" descr="preencoded.png"/>
          <p:cNvPicPr/>
          <p:nvPr/>
        </p:nvPicPr>
        <p:blipFill>
          <a:blip r:embed="rId5"/>
          <a:stretch/>
        </p:blipFill>
        <p:spPr>
          <a:xfrm>
            <a:off x="841320" y="53445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7" name="Text 48"/>
          <p:cNvSpPr/>
          <p:nvPr/>
        </p:nvSpPr>
        <p:spPr>
          <a:xfrm>
            <a:off x="1298520" y="5074920"/>
            <a:ext cx="914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2C5F"/>
                </a:solidFill>
                <a:latin typeface="Calibri"/>
                <a:ea typeface="Calibri"/>
              </a:rPr>
              <a:t>VISA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776"/>
                </a:solidFill>
                <a:latin typeface="Calibri"/>
                <a:ea typeface="Calibri"/>
              </a:rPr>
              <a:t>bandeira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9"/>
          <p:cNvSpPr/>
          <p:nvPr/>
        </p:nvSpPr>
        <p:spPr>
          <a:xfrm>
            <a:off x="3017520" y="5074920"/>
            <a:ext cx="18741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002C5F"/>
            </a:solidFill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Image 3" descr="preencoded.png"/>
          <p:cNvPicPr/>
          <p:nvPr/>
        </p:nvPicPr>
        <p:blipFill>
          <a:blip r:embed="rId6"/>
          <a:stretch/>
        </p:blipFill>
        <p:spPr>
          <a:xfrm>
            <a:off x="3218760" y="53445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60" name="Text 50"/>
          <p:cNvSpPr/>
          <p:nvPr/>
        </p:nvSpPr>
        <p:spPr>
          <a:xfrm>
            <a:off x="3675960" y="5074920"/>
            <a:ext cx="1096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02C5F"/>
                </a:solidFill>
                <a:latin typeface="Calibri"/>
                <a:ea typeface="Calibri"/>
              </a:rPr>
              <a:t>CICS Débito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776"/>
                </a:solidFill>
                <a:latin typeface="Calibri"/>
                <a:ea typeface="Calibri"/>
              </a:rPr>
              <a:t>roteador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2377440" y="5509080"/>
            <a:ext cx="594360" cy="360"/>
          </a:xfrm>
          <a:prstGeom prst="line">
            <a:avLst/>
          </a:prstGeom>
          <a:ln w="31750">
            <a:solidFill>
              <a:srgbClr val="002C5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2"/>
          <p:cNvSpPr/>
          <p:nvPr/>
        </p:nvSpPr>
        <p:spPr>
          <a:xfrm>
            <a:off x="6309360" y="4617720"/>
            <a:ext cx="3108600" cy="82260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5875">
            <a:solidFill>
              <a:srgbClr val="5A6776"/>
            </a:solidFill>
            <a:prstDash val="dash"/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7"/>
          <a:stretch/>
        </p:blipFill>
        <p:spPr>
          <a:xfrm>
            <a:off x="6492240" y="48830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4" name="Text 53"/>
          <p:cNvSpPr/>
          <p:nvPr/>
        </p:nvSpPr>
        <p:spPr>
          <a:xfrm>
            <a:off x="6876360" y="4617720"/>
            <a:ext cx="14626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A6776"/>
                </a:solidFill>
                <a:latin typeface="Calibri"/>
                <a:ea typeface="Calibri"/>
              </a:rPr>
              <a:t>Autorizador Legado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776"/>
                </a:solidFill>
                <a:latin typeface="Calibri"/>
                <a:ea typeface="Calibri"/>
              </a:rPr>
              <a:t>legado / mainframe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4"/>
          <p:cNvSpPr/>
          <p:nvPr/>
        </p:nvSpPr>
        <p:spPr>
          <a:xfrm>
            <a:off x="8595360" y="4892040"/>
            <a:ext cx="712800" cy="2739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5"/>
          <p:cNvSpPr/>
          <p:nvPr/>
        </p:nvSpPr>
        <p:spPr>
          <a:xfrm>
            <a:off x="8595360" y="4892040"/>
            <a:ext cx="71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0%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6"/>
          <p:cNvSpPr/>
          <p:nvPr/>
        </p:nvSpPr>
        <p:spPr>
          <a:xfrm>
            <a:off x="6309360" y="5696640"/>
            <a:ext cx="31086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0320">
            <a:solidFill>
              <a:srgbClr val="1B7A4B"/>
            </a:solidFill>
            <a:round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5" descr="preencoded.png"/>
          <p:cNvPicPr/>
          <p:nvPr/>
        </p:nvPicPr>
        <p:blipFill>
          <a:blip r:embed="rId8"/>
          <a:stretch/>
        </p:blipFill>
        <p:spPr>
          <a:xfrm>
            <a:off x="6492240" y="5961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69" name="Text 57"/>
          <p:cNvSpPr/>
          <p:nvPr/>
        </p:nvSpPr>
        <p:spPr>
          <a:xfrm>
            <a:off x="6876360" y="5696640"/>
            <a:ext cx="14626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02C5F"/>
                </a:solidFill>
                <a:latin typeface="Calibri"/>
                <a:ea typeface="Calibri"/>
              </a:rPr>
              <a:t>Autorizador Modernizado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C7000"/>
                </a:solidFill>
                <a:latin typeface="Calibri"/>
                <a:ea typeface="Calibri"/>
              </a:rPr>
              <a:t>Cloud AWS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8"/>
          <p:cNvSpPr/>
          <p:nvPr/>
        </p:nvSpPr>
        <p:spPr>
          <a:xfrm>
            <a:off x="8485560" y="5970960"/>
            <a:ext cx="822600" cy="273960"/>
          </a:xfrm>
          <a:prstGeom prst="roundRect">
            <a:avLst>
              <a:gd name="adj" fmla="val 50000"/>
            </a:avLst>
          </a:prstGeom>
          <a:solidFill>
            <a:srgbClr val="1B7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59"/>
          <p:cNvSpPr/>
          <p:nvPr/>
        </p:nvSpPr>
        <p:spPr>
          <a:xfrm>
            <a:off x="8485560" y="5970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100%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0"/>
          <p:cNvSpPr/>
          <p:nvPr/>
        </p:nvSpPr>
        <p:spPr>
          <a:xfrm flipV="1">
            <a:off x="4892040" y="5029200"/>
            <a:ext cx="1398960" cy="479880"/>
          </a:xfrm>
          <a:prstGeom prst="line">
            <a:avLst/>
          </a:prstGeom>
          <a:ln w="25400">
            <a:solidFill>
              <a:srgbClr val="5A6776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4892040" y="5509080"/>
            <a:ext cx="1398960" cy="599040"/>
          </a:xfrm>
          <a:prstGeom prst="line">
            <a:avLst/>
          </a:prstGeom>
          <a:ln w="31750">
            <a:solidFill>
              <a:srgbClr val="1B7A4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62"/>
          <p:cNvSpPr/>
          <p:nvPr/>
        </p:nvSpPr>
        <p:spPr>
          <a:xfrm>
            <a:off x="5440680" y="5093280"/>
            <a:ext cx="310680" cy="310680"/>
          </a:xfrm>
          <a:prstGeom prst="ellipse">
            <a:avLst/>
          </a:prstGeom>
          <a:solidFill>
            <a:srgbClr val="5A67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63"/>
          <p:cNvSpPr/>
          <p:nvPr/>
        </p:nvSpPr>
        <p:spPr>
          <a:xfrm>
            <a:off x="5440680" y="5093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64"/>
          <p:cNvSpPr/>
          <p:nvPr/>
        </p:nvSpPr>
        <p:spPr>
          <a:xfrm>
            <a:off x="5440680" y="5678280"/>
            <a:ext cx="310680" cy="310680"/>
          </a:xfrm>
          <a:prstGeom prst="ellipse">
            <a:avLst/>
          </a:prstGeom>
          <a:solidFill>
            <a:srgbClr val="1B7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65"/>
          <p:cNvSpPr/>
          <p:nvPr/>
        </p:nvSpPr>
        <p:spPr>
          <a:xfrm>
            <a:off x="5440680" y="5678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6"/>
          <p:cNvSpPr/>
          <p:nvPr/>
        </p:nvSpPr>
        <p:spPr>
          <a:xfrm>
            <a:off x="5074920" y="54039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i="1" strike="noStrike" spc="-1">
                <a:solidFill>
                  <a:srgbClr val="C0392B"/>
                </a:solidFill>
                <a:latin typeface="Calibri"/>
                <a:ea typeface="Calibri"/>
              </a:rPr>
              <a:t>zerado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67"/>
          <p:cNvSpPr/>
          <p:nvPr/>
        </p:nvSpPr>
        <p:spPr>
          <a:xfrm>
            <a:off x="9646920" y="4617720"/>
            <a:ext cx="2057040" cy="1901520"/>
          </a:xfrm>
          <a:prstGeom prst="roundRect">
            <a:avLst>
              <a:gd name="adj" fmla="val 4808"/>
            </a:avLst>
          </a:prstGeom>
          <a:solidFill>
            <a:srgbClr val="002C5F"/>
          </a:solidFill>
          <a:ln w="0">
            <a:noFill/>
          </a:ln>
          <a:effectLst>
            <a:outerShdw blurRad="889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6" descr="preencoded.png"/>
          <p:cNvPicPr/>
          <p:nvPr/>
        </p:nvPicPr>
        <p:blipFill>
          <a:blip r:embed="rId9"/>
          <a:stretch/>
        </p:blipFill>
        <p:spPr>
          <a:xfrm>
            <a:off x="10492920" y="4818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1" name="Text 68"/>
          <p:cNvSpPr/>
          <p:nvPr/>
        </p:nvSpPr>
        <p:spPr>
          <a:xfrm>
            <a:off x="9646920" y="5184720"/>
            <a:ext cx="2057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EC7000"/>
                </a:solidFill>
                <a:latin typeface="Calibri"/>
                <a:ea typeface="Calibri"/>
              </a:rPr>
              <a:t>100%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9"/>
          <p:cNvSpPr/>
          <p:nvPr/>
        </p:nvSpPr>
        <p:spPr>
          <a:xfrm>
            <a:off x="9829800" y="582480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das transações Visa no ambiente modernizado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70"/>
          <p:cNvSpPr/>
          <p:nvPr/>
        </p:nvSpPr>
        <p:spPr>
          <a:xfrm>
            <a:off x="9646920" y="62820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FB4D1"/>
                </a:solidFill>
                <a:latin typeface="Calibri"/>
                <a:ea typeface="Calibri"/>
              </a:rPr>
              <a:t>Legado: 0%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172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mmgabri</dc:creator>
  <cp:lastModifiedBy>MARCELO GABRIEL</cp:lastModifiedBy>
  <cp:revision>1</cp:revision>
  <dcterms:modified xsi:type="dcterms:W3CDTF">2026-06-28T19:20:45Z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2026-06-28T18:41:58Z</dcterms:created>
  <dc:creator>Marcelo</dc:creator>
  <dc:description/>
  <dc:language>en-US</dc:language>
  <cp:lastModifiedBy>Marcelo</cp:lastModifiedBy>
  <dcterms:modified xsi:type="dcterms:W3CDTF">2026-06-28T18:41:58Z</dcterms:modified>
  <cp:revision>1</cp:revision>
  <dc:subject>PptxGenJS Presentation</dc:subject>
  <dc:title>Modernização Visa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1</vt:r8>
  </property>
</Properties>
</file>