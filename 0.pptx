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24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487168"/>
            <a:ext cx="914400" cy="128016"/>
          </a:xfrm>
          <a:prstGeom prst="rect">
            <a:avLst/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32104" y="276148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Modernização Mastercard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86968" y="3767328"/>
            <a:ext cx="5120640" cy="32004"/>
          </a:xfrm>
          <a:prstGeom prst="rect">
            <a:avLst/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38770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Multiconexão MIP Mastercard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x   ·  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68735" cy="786384"/>
          </a:xfrm>
          <a:prstGeom prst="roundRect">
            <a:avLst>
              <a:gd name="adj" fmla="val 6977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9224" y="421017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Multiconexão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MIP Mastercard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" y="722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780983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780983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Atual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68735" cy="530352"/>
          </a:xfrm>
          <a:prstGeom prst="roundRect">
            <a:avLst>
              <a:gd name="adj" fmla="val 8621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12252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33272" y="1133856"/>
            <a:ext cx="10545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é: 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(hardware + software) da Mastercard no data center do Emissor. Troca mensagens ISO 8583 em tempo real entre a rede Banknet e o </a:t>
            </a:r>
            <a:r>
              <a:rPr lang="en-US" sz="1150" dirty="0" err="1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</a:t>
            </a:r>
            <a:r>
              <a:rPr lang="en-US" sz="1200" b="1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2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57784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mip/ic/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203704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16152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16152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cartão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83916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367964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3514268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1" descr="/home/claude/mip/ic/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08" y="2203704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172636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172636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compra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940400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6324448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1"/>
          <p:cNvSpPr/>
          <p:nvPr/>
        </p:nvSpPr>
        <p:spPr>
          <a:xfrm>
            <a:off x="6470752" y="2112264"/>
            <a:ext cx="548640" cy="548640"/>
          </a:xfrm>
          <a:prstGeom prst="ellipse">
            <a:avLst/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2" descr="/home/claude/mip/ic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192" y="2203704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129120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7129120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Banknet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896883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5"/>
          <p:cNvSpPr/>
          <p:nvPr/>
        </p:nvSpPr>
        <p:spPr>
          <a:xfrm>
            <a:off x="9280931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6"/>
          <p:cNvSpPr/>
          <p:nvPr/>
        </p:nvSpPr>
        <p:spPr>
          <a:xfrm>
            <a:off x="9427235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3" descr="/home/claude/mip/ic/ba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675" y="2203704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085603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Emissor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0085603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autoriza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10530573" y="2816352"/>
            <a:ext cx="0" cy="219456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0"/>
          <p:cNvSpPr/>
          <p:nvPr/>
        </p:nvSpPr>
        <p:spPr>
          <a:xfrm>
            <a:off x="411480" y="2999232"/>
            <a:ext cx="11368735" cy="365760"/>
          </a:xfrm>
          <a:prstGeom prst="roundRect">
            <a:avLst>
              <a:gd name="adj" fmla="val 12500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1"/>
          <p:cNvSpPr/>
          <p:nvPr/>
        </p:nvSpPr>
        <p:spPr>
          <a:xfrm>
            <a:off x="630936" y="2999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Atual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4983480" y="2999232"/>
            <a:ext cx="6577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MIPs (porta 6004) → CICS on-premise → Cloud AWS via fila IBM MQ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11480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4"/>
          <p:cNvSpPr/>
          <p:nvPr/>
        </p:nvSpPr>
        <p:spPr>
          <a:xfrm>
            <a:off x="539496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5"/>
          <p:cNvSpPr/>
          <p:nvPr/>
        </p:nvSpPr>
        <p:spPr>
          <a:xfrm>
            <a:off x="539496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150" dirty="0"/>
          </a:p>
        </p:txBody>
      </p:sp>
      <p:pic>
        <p:nvPicPr>
          <p:cNvPr id="42" name="Image 4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572" y="3877056"/>
            <a:ext cx="402336" cy="54864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883564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37"/>
          <p:cNvSpPr/>
          <p:nvPr/>
        </p:nvSpPr>
        <p:spPr>
          <a:xfrm>
            <a:off x="883564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45" name="Image 5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181" y="3877056"/>
            <a:ext cx="402336" cy="54864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919173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39"/>
          <p:cNvSpPr/>
          <p:nvPr/>
        </p:nvSpPr>
        <p:spPr>
          <a:xfrm>
            <a:off x="1919173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48" name="Image 6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8790" y="3877056"/>
            <a:ext cx="402336" cy="548640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2954782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1"/>
          <p:cNvSpPr/>
          <p:nvPr/>
        </p:nvSpPr>
        <p:spPr>
          <a:xfrm>
            <a:off x="2954782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4322978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43"/>
          <p:cNvSpPr/>
          <p:nvPr/>
        </p:nvSpPr>
        <p:spPr>
          <a:xfrm>
            <a:off x="4450994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44"/>
          <p:cNvSpPr/>
          <p:nvPr/>
        </p:nvSpPr>
        <p:spPr>
          <a:xfrm>
            <a:off x="4450994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150" dirty="0"/>
          </a:p>
        </p:txBody>
      </p:sp>
      <p:pic>
        <p:nvPicPr>
          <p:cNvPr id="54" name="Image 7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9071" y="3877056"/>
            <a:ext cx="402336" cy="548640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4795063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46"/>
          <p:cNvSpPr/>
          <p:nvPr/>
        </p:nvSpPr>
        <p:spPr>
          <a:xfrm>
            <a:off x="4795063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57" name="Image 8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4680" y="3877056"/>
            <a:ext cx="402336" cy="548640"/>
          </a:xfrm>
          <a:prstGeom prst="rect">
            <a:avLst/>
          </a:prstGeom>
        </p:spPr>
      </p:pic>
      <p:sp>
        <p:nvSpPr>
          <p:cNvPr id="58" name="Shape 47"/>
          <p:cNvSpPr/>
          <p:nvPr/>
        </p:nvSpPr>
        <p:spPr>
          <a:xfrm>
            <a:off x="5830672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48"/>
          <p:cNvSpPr/>
          <p:nvPr/>
        </p:nvSpPr>
        <p:spPr>
          <a:xfrm>
            <a:off x="5830672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60" name="Image 9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0288" y="3877056"/>
            <a:ext cx="402336" cy="548640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6866280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50"/>
          <p:cNvSpPr/>
          <p:nvPr/>
        </p:nvSpPr>
        <p:spPr>
          <a:xfrm>
            <a:off x="6866280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63" name="Shape 51"/>
          <p:cNvSpPr/>
          <p:nvPr/>
        </p:nvSpPr>
        <p:spPr>
          <a:xfrm>
            <a:off x="8234477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52"/>
          <p:cNvSpPr/>
          <p:nvPr/>
        </p:nvSpPr>
        <p:spPr>
          <a:xfrm>
            <a:off x="8362493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53"/>
          <p:cNvSpPr/>
          <p:nvPr/>
        </p:nvSpPr>
        <p:spPr>
          <a:xfrm>
            <a:off x="8362493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150" dirty="0"/>
          </a:p>
        </p:txBody>
      </p:sp>
      <p:pic>
        <p:nvPicPr>
          <p:cNvPr id="66" name="Image 10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0569" y="3877056"/>
            <a:ext cx="402336" cy="548640"/>
          </a:xfrm>
          <a:prstGeom prst="rect">
            <a:avLst/>
          </a:prstGeom>
        </p:spPr>
      </p:pic>
      <p:sp>
        <p:nvSpPr>
          <p:cNvPr id="67" name="Shape 54"/>
          <p:cNvSpPr/>
          <p:nvPr/>
        </p:nvSpPr>
        <p:spPr>
          <a:xfrm>
            <a:off x="8706561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55"/>
          <p:cNvSpPr/>
          <p:nvPr/>
        </p:nvSpPr>
        <p:spPr>
          <a:xfrm>
            <a:off x="8706561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69" name="Image 11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6178" y="3877056"/>
            <a:ext cx="402336" cy="54864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9742170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57"/>
          <p:cNvSpPr/>
          <p:nvPr/>
        </p:nvSpPr>
        <p:spPr>
          <a:xfrm>
            <a:off x="9742170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72" name="Image 12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1787" y="3877056"/>
            <a:ext cx="402336" cy="548640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10777779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Text 59"/>
          <p:cNvSpPr/>
          <p:nvPr/>
        </p:nvSpPr>
        <p:spPr>
          <a:xfrm>
            <a:off x="10777779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75" name="Shape 60"/>
          <p:cNvSpPr/>
          <p:nvPr/>
        </p:nvSpPr>
        <p:spPr>
          <a:xfrm>
            <a:off x="2184349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61"/>
          <p:cNvSpPr/>
          <p:nvPr/>
        </p:nvSpPr>
        <p:spPr>
          <a:xfrm>
            <a:off x="6095848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62"/>
          <p:cNvSpPr/>
          <p:nvPr/>
        </p:nvSpPr>
        <p:spPr>
          <a:xfrm>
            <a:off x="10007346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63"/>
          <p:cNvSpPr/>
          <p:nvPr/>
        </p:nvSpPr>
        <p:spPr>
          <a:xfrm>
            <a:off x="2184349" y="4893233"/>
            <a:ext cx="7822997" cy="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Shape 64"/>
          <p:cNvSpPr/>
          <p:nvPr/>
        </p:nvSpPr>
        <p:spPr>
          <a:xfrm flipH="1">
            <a:off x="3291840" y="4901184"/>
            <a:ext cx="2972" cy="240123"/>
          </a:xfrm>
          <a:prstGeom prst="line">
            <a:avLst/>
          </a:prstGeom>
          <a:noFill/>
          <a:ln w="3810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0" name="Shape 65"/>
          <p:cNvSpPr/>
          <p:nvPr/>
        </p:nvSpPr>
        <p:spPr>
          <a:xfrm>
            <a:off x="1234440" y="5141307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002C5F"/>
            </a:solidFill>
            <a:prstDash val="solid"/>
          </a:ln>
          <a:effectLst>
            <a:outerShdw blurRad="76200" dist="25400" dir="5400000" algn="bl" rotWithShape="0">
              <a:srgbClr val="9AA6B4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1" name="Image 13" descr="/home/claude/mip/ic/mainfra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0472" y="5488779"/>
            <a:ext cx="603504" cy="566928"/>
          </a:xfrm>
          <a:prstGeom prst="rect">
            <a:avLst/>
          </a:prstGeom>
        </p:spPr>
      </p:pic>
      <p:sp>
        <p:nvSpPr>
          <p:cNvPr id="82" name="Text 66"/>
          <p:cNvSpPr/>
          <p:nvPr/>
        </p:nvSpPr>
        <p:spPr>
          <a:xfrm>
            <a:off x="2258568" y="5452203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 de Débito</a:t>
            </a:r>
            <a:endParaRPr lang="en-US" sz="1450" dirty="0"/>
          </a:p>
        </p:txBody>
      </p:sp>
      <p:sp>
        <p:nvSpPr>
          <p:cNvPr id="83" name="Text 67"/>
          <p:cNvSpPr/>
          <p:nvPr/>
        </p:nvSpPr>
        <p:spPr>
          <a:xfrm>
            <a:off x="2258568" y="5817963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· CICS · </a:t>
            </a:r>
            <a:endParaRPr lang="en-US" sz="1200" dirty="0"/>
          </a:p>
        </p:txBody>
      </p:sp>
      <p:pic>
        <p:nvPicPr>
          <p:cNvPr id="84" name="Image 14" descr="/home/claude/mip/ic/mq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7588" y="5390974"/>
            <a:ext cx="512064" cy="219456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5463540" y="55993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</a:t>
            </a:r>
            <a:endParaRPr lang="en-US" sz="1100" dirty="0"/>
          </a:p>
        </p:txBody>
      </p:sp>
      <p:sp>
        <p:nvSpPr>
          <p:cNvPr id="86" name="Shape 69"/>
          <p:cNvSpPr/>
          <p:nvPr/>
        </p:nvSpPr>
        <p:spPr>
          <a:xfrm>
            <a:off x="5404104" y="5891115"/>
            <a:ext cx="1399032" cy="0"/>
          </a:xfrm>
          <a:prstGeom prst="line">
            <a:avLst/>
          </a:prstGeom>
          <a:noFill/>
          <a:ln w="3810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7" name="Text 70"/>
          <p:cNvSpPr/>
          <p:nvPr/>
        </p:nvSpPr>
        <p:spPr>
          <a:xfrm>
            <a:off x="5326380" y="5982555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→ nuvem</a:t>
            </a:r>
            <a:endParaRPr lang="en-US" sz="850" dirty="0"/>
          </a:p>
        </p:txBody>
      </p:sp>
      <p:sp>
        <p:nvSpPr>
          <p:cNvPr id="88" name="Shape 71"/>
          <p:cNvSpPr/>
          <p:nvPr/>
        </p:nvSpPr>
        <p:spPr>
          <a:xfrm>
            <a:off x="6858000" y="5141307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C7000"/>
            </a:solidFill>
            <a:prstDash val="solid"/>
          </a:ln>
          <a:effectLst>
            <a:outerShdw blurRad="76200" dist="25400" dir="5400000" algn="bl" rotWithShape="0">
              <a:srgbClr val="9AA6B4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9" name="Image 15" descr="/home/claude/mip/ic/clou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4032" y="5525355"/>
            <a:ext cx="749808" cy="484632"/>
          </a:xfrm>
          <a:prstGeom prst="rect">
            <a:avLst/>
          </a:prstGeom>
        </p:spPr>
      </p:pic>
      <p:sp>
        <p:nvSpPr>
          <p:cNvPr id="90" name="Text 72"/>
          <p:cNvSpPr/>
          <p:nvPr/>
        </p:nvSpPr>
        <p:spPr>
          <a:xfrm>
            <a:off x="8010144" y="545220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1450" dirty="0"/>
          </a:p>
        </p:txBody>
      </p:sp>
      <p:sp>
        <p:nvSpPr>
          <p:cNvPr id="91" name="Text 73"/>
          <p:cNvSpPr/>
          <p:nvPr/>
        </p:nvSpPr>
        <p:spPr>
          <a:xfrm>
            <a:off x="8010144" y="5817963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/ serviços em nuvem</a:t>
            </a:r>
            <a:endParaRPr lang="en-US" sz="1150" dirty="0"/>
          </a:p>
        </p:txBody>
      </p:sp>
      <p:sp>
        <p:nvSpPr>
          <p:cNvPr id="92" name="Text 74"/>
          <p:cNvSpPr/>
          <p:nvPr/>
        </p:nvSpPr>
        <p:spPr>
          <a:xfrm>
            <a:off x="411480" y="64556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 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68735" cy="786384"/>
          </a:xfrm>
          <a:prstGeom prst="roundRect">
            <a:avLst>
              <a:gd name="adj" fmla="val 6977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9224" y="405115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Multiconexão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MIP Mastercard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" y="722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780983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780983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TO-BE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68735" cy="82296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502920" cy="0"/>
          </a:xfrm>
          <a:prstGeom prst="line">
            <a:avLst/>
          </a:prstGeom>
          <a:noFill/>
          <a:ln w="444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25880" y="1243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 → Cloud AWS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conexão direta (fluxo primário)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1691640"/>
            <a:ext cx="502920" cy="0"/>
          </a:xfrm>
          <a:prstGeom prst="line">
            <a:avLst/>
          </a:prstGeom>
          <a:noFill/>
          <a:ln w="44450">
            <a:solidFill>
              <a:srgbClr val="002C5F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25880" y="1563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 → On-premise CICS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50" dirty="0" err="1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failover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37960" y="1243584"/>
            <a:ext cx="0" cy="566928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66560" y="1225296"/>
            <a:ext cx="4785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muda:  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MIP conecta direto na nuvem pela 7004; a 6004 (on-premise) passa a ser </a:t>
            </a:r>
            <a:r>
              <a:rPr lang="en-US" sz="1150" dirty="0" err="1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ligação via IBM MQ entre on-premise e cloud é removida.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048256"/>
            <a:ext cx="11368735" cy="365760"/>
          </a:xfrm>
          <a:prstGeom prst="roundRect">
            <a:avLst>
              <a:gd name="adj" fmla="val 12500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0936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TO-BE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048256"/>
            <a:ext cx="6577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MIP com 2 portas · 9 MIPs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542032"/>
            <a:ext cx="3545738" cy="1517904"/>
          </a:xfrm>
          <a:prstGeom prst="roundRect">
            <a:avLst>
              <a:gd name="adj" fmla="val 3012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39496" y="2633472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39496" y="2633472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150" dirty="0"/>
          </a:p>
        </p:txBody>
      </p:sp>
      <p:pic>
        <p:nvPicPr>
          <p:cNvPr id="20" name="Image 0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72" y="2999232"/>
            <a:ext cx="402336" cy="5486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83564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883564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83564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883564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25" name="Image 1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181" y="2999232"/>
            <a:ext cx="402336" cy="54864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919173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/>
          <p:nvPr/>
        </p:nvSpPr>
        <p:spPr>
          <a:xfrm>
            <a:off x="1919173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1919173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1919173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30" name="Image 2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790" y="2999232"/>
            <a:ext cx="402336" cy="54864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2954782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7"/>
          <p:cNvSpPr/>
          <p:nvPr/>
        </p:nvSpPr>
        <p:spPr>
          <a:xfrm>
            <a:off x="2954782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2954782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9"/>
          <p:cNvSpPr/>
          <p:nvPr/>
        </p:nvSpPr>
        <p:spPr>
          <a:xfrm>
            <a:off x="2954782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4322978" y="2542032"/>
            <a:ext cx="3545738" cy="1517904"/>
          </a:xfrm>
          <a:prstGeom prst="roundRect">
            <a:avLst>
              <a:gd name="adj" fmla="val 3012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1"/>
          <p:cNvSpPr/>
          <p:nvPr/>
        </p:nvSpPr>
        <p:spPr>
          <a:xfrm>
            <a:off x="4450994" y="2633472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2"/>
          <p:cNvSpPr/>
          <p:nvPr/>
        </p:nvSpPr>
        <p:spPr>
          <a:xfrm>
            <a:off x="4450994" y="2633472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150" dirty="0"/>
          </a:p>
        </p:txBody>
      </p:sp>
      <p:pic>
        <p:nvPicPr>
          <p:cNvPr id="38" name="Image 3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071" y="2999232"/>
            <a:ext cx="402336" cy="54864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4795063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4"/>
          <p:cNvSpPr/>
          <p:nvPr/>
        </p:nvSpPr>
        <p:spPr>
          <a:xfrm>
            <a:off x="4795063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4795063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6"/>
          <p:cNvSpPr/>
          <p:nvPr/>
        </p:nvSpPr>
        <p:spPr>
          <a:xfrm>
            <a:off x="4795063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43" name="Image 4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80" y="2999232"/>
            <a:ext cx="402336" cy="54864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5830672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38"/>
          <p:cNvSpPr/>
          <p:nvPr/>
        </p:nvSpPr>
        <p:spPr>
          <a:xfrm>
            <a:off x="5830672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5830672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0"/>
          <p:cNvSpPr/>
          <p:nvPr/>
        </p:nvSpPr>
        <p:spPr>
          <a:xfrm>
            <a:off x="5830672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48" name="Image 5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288" y="2999232"/>
            <a:ext cx="402336" cy="548640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6866280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2"/>
          <p:cNvSpPr/>
          <p:nvPr/>
        </p:nvSpPr>
        <p:spPr>
          <a:xfrm>
            <a:off x="6866280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6866280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44"/>
          <p:cNvSpPr/>
          <p:nvPr/>
        </p:nvSpPr>
        <p:spPr>
          <a:xfrm>
            <a:off x="6866280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8234477" y="2542032"/>
            <a:ext cx="3545738" cy="1517904"/>
          </a:xfrm>
          <a:prstGeom prst="roundRect">
            <a:avLst>
              <a:gd name="adj" fmla="val 3012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46"/>
          <p:cNvSpPr/>
          <p:nvPr/>
        </p:nvSpPr>
        <p:spPr>
          <a:xfrm>
            <a:off x="8362493" y="2633472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47"/>
          <p:cNvSpPr/>
          <p:nvPr/>
        </p:nvSpPr>
        <p:spPr>
          <a:xfrm>
            <a:off x="8362493" y="2633472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150" dirty="0"/>
          </a:p>
        </p:txBody>
      </p:sp>
      <p:pic>
        <p:nvPicPr>
          <p:cNvPr id="56" name="Image 6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569" y="2999232"/>
            <a:ext cx="402336" cy="548640"/>
          </a:xfrm>
          <a:prstGeom prst="rect">
            <a:avLst/>
          </a:prstGeom>
        </p:spPr>
      </p:pic>
      <p:sp>
        <p:nvSpPr>
          <p:cNvPr id="57" name="Shape 48"/>
          <p:cNvSpPr/>
          <p:nvPr/>
        </p:nvSpPr>
        <p:spPr>
          <a:xfrm>
            <a:off x="8706561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49"/>
          <p:cNvSpPr/>
          <p:nvPr/>
        </p:nvSpPr>
        <p:spPr>
          <a:xfrm>
            <a:off x="8706561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8706561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1"/>
          <p:cNvSpPr/>
          <p:nvPr/>
        </p:nvSpPr>
        <p:spPr>
          <a:xfrm>
            <a:off x="8706561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61" name="Image 7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178" y="2999232"/>
            <a:ext cx="402336" cy="548640"/>
          </a:xfrm>
          <a:prstGeom prst="rect">
            <a:avLst/>
          </a:prstGeom>
        </p:spPr>
      </p:pic>
      <p:sp>
        <p:nvSpPr>
          <p:cNvPr id="62" name="Shape 52"/>
          <p:cNvSpPr/>
          <p:nvPr/>
        </p:nvSpPr>
        <p:spPr>
          <a:xfrm>
            <a:off x="9742170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53"/>
          <p:cNvSpPr/>
          <p:nvPr/>
        </p:nvSpPr>
        <p:spPr>
          <a:xfrm>
            <a:off x="9742170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64" name="Shape 54"/>
          <p:cNvSpPr/>
          <p:nvPr/>
        </p:nvSpPr>
        <p:spPr>
          <a:xfrm>
            <a:off x="9742170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55"/>
          <p:cNvSpPr/>
          <p:nvPr/>
        </p:nvSpPr>
        <p:spPr>
          <a:xfrm>
            <a:off x="9742170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66" name="Image 8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787" y="2999232"/>
            <a:ext cx="402336" cy="548640"/>
          </a:xfrm>
          <a:prstGeom prst="rect">
            <a:avLst/>
          </a:prstGeom>
        </p:spPr>
      </p:pic>
      <p:sp>
        <p:nvSpPr>
          <p:cNvPr id="67" name="Shape 56"/>
          <p:cNvSpPr/>
          <p:nvPr/>
        </p:nvSpPr>
        <p:spPr>
          <a:xfrm>
            <a:off x="10777779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57"/>
          <p:cNvSpPr/>
          <p:nvPr/>
        </p:nvSpPr>
        <p:spPr>
          <a:xfrm>
            <a:off x="10777779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69" name="Shape 58"/>
          <p:cNvSpPr/>
          <p:nvPr/>
        </p:nvSpPr>
        <p:spPr>
          <a:xfrm>
            <a:off x="10777779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59"/>
          <p:cNvSpPr/>
          <p:nvPr/>
        </p:nvSpPr>
        <p:spPr>
          <a:xfrm>
            <a:off x="10777779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71" name="Shape 60"/>
          <p:cNvSpPr/>
          <p:nvPr/>
        </p:nvSpPr>
        <p:spPr>
          <a:xfrm>
            <a:off x="2184349" y="4059936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61"/>
          <p:cNvSpPr/>
          <p:nvPr/>
        </p:nvSpPr>
        <p:spPr>
          <a:xfrm>
            <a:off x="6095848" y="4059936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62"/>
          <p:cNvSpPr/>
          <p:nvPr/>
        </p:nvSpPr>
        <p:spPr>
          <a:xfrm>
            <a:off x="10007346" y="4059936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63"/>
          <p:cNvSpPr/>
          <p:nvPr/>
        </p:nvSpPr>
        <p:spPr>
          <a:xfrm>
            <a:off x="2184349" y="4242816"/>
            <a:ext cx="7822997" cy="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64"/>
          <p:cNvSpPr/>
          <p:nvPr/>
        </p:nvSpPr>
        <p:spPr>
          <a:xfrm flipH="1">
            <a:off x="4015411" y="4242816"/>
            <a:ext cx="2079065" cy="310893"/>
          </a:xfrm>
          <a:prstGeom prst="line">
            <a:avLst/>
          </a:prstGeom>
          <a:noFill/>
          <a:ln w="444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65"/>
          <p:cNvSpPr/>
          <p:nvPr/>
        </p:nvSpPr>
        <p:spPr>
          <a:xfrm>
            <a:off x="6094476" y="4242816"/>
            <a:ext cx="2253996" cy="310896"/>
          </a:xfrm>
          <a:prstGeom prst="line">
            <a:avLst/>
          </a:prstGeom>
          <a:noFill/>
          <a:ln w="38100">
            <a:solidFill>
              <a:srgbClr val="002C5F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7" name="Text 66"/>
          <p:cNvSpPr/>
          <p:nvPr/>
        </p:nvSpPr>
        <p:spPr>
          <a:xfrm>
            <a:off x="3657600" y="4261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 · primário</a:t>
            </a:r>
            <a:endParaRPr lang="en-US" sz="950" dirty="0"/>
          </a:p>
        </p:txBody>
      </p:sp>
      <p:sp>
        <p:nvSpPr>
          <p:cNvPr id="78" name="Text 67"/>
          <p:cNvSpPr/>
          <p:nvPr/>
        </p:nvSpPr>
        <p:spPr>
          <a:xfrm>
            <a:off x="6976872" y="4261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 · </a:t>
            </a:r>
            <a:r>
              <a:rPr lang="en-US" sz="950" b="1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950" dirty="0"/>
          </a:p>
        </p:txBody>
      </p:sp>
      <p:sp>
        <p:nvSpPr>
          <p:cNvPr id="79" name="Shape 68"/>
          <p:cNvSpPr/>
          <p:nvPr/>
        </p:nvSpPr>
        <p:spPr>
          <a:xfrm>
            <a:off x="1828800" y="4553712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C7000"/>
            </a:solidFill>
            <a:prstDash val="solid"/>
          </a:ln>
          <a:effectLst>
            <a:outerShdw blurRad="76200" dist="25400" dir="5400000" algn="bl" rotWithShape="0">
              <a:srgbClr val="9AA6B4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0" name="Shape 69"/>
          <p:cNvSpPr/>
          <p:nvPr/>
        </p:nvSpPr>
        <p:spPr>
          <a:xfrm>
            <a:off x="5065776" y="4700016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Text 70"/>
          <p:cNvSpPr/>
          <p:nvPr/>
        </p:nvSpPr>
        <p:spPr>
          <a:xfrm>
            <a:off x="5065776" y="470001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1000" dirty="0"/>
          </a:p>
        </p:txBody>
      </p:sp>
      <p:pic>
        <p:nvPicPr>
          <p:cNvPr id="82" name="Image 9" descr="/home/claude/mip/ic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5056632"/>
            <a:ext cx="786384" cy="508406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3017520" y="4937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1500" dirty="0"/>
          </a:p>
        </p:txBody>
      </p:sp>
      <p:sp>
        <p:nvSpPr>
          <p:cNvPr id="84" name="Text 72"/>
          <p:cNvSpPr/>
          <p:nvPr/>
        </p:nvSpPr>
        <p:spPr>
          <a:xfrm>
            <a:off x="3017520" y="5321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primário — </a:t>
            </a:r>
            <a:r>
              <a:rPr lang="en-US" sz="110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</a:t>
            </a:r>
            <a:endParaRPr lang="en-US" sz="1100" dirty="0"/>
          </a:p>
        </p:txBody>
      </p:sp>
      <p:sp>
        <p:nvSpPr>
          <p:cNvPr id="85" name="Shape 73"/>
          <p:cNvSpPr/>
          <p:nvPr/>
        </p:nvSpPr>
        <p:spPr>
          <a:xfrm>
            <a:off x="6336792" y="4553712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25400">
            <a:solidFill>
              <a:srgbClr val="002C5F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74"/>
          <p:cNvSpPr/>
          <p:nvPr/>
        </p:nvSpPr>
        <p:spPr>
          <a:xfrm>
            <a:off x="9573768" y="4700016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Text 75"/>
          <p:cNvSpPr/>
          <p:nvPr/>
        </p:nvSpPr>
        <p:spPr>
          <a:xfrm>
            <a:off x="9573768" y="470001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1000" dirty="0"/>
          </a:p>
        </p:txBody>
      </p:sp>
      <p:pic>
        <p:nvPicPr>
          <p:cNvPr id="88" name="Image 10" descr="/home/claude/mip/ic/mainfr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5010912"/>
            <a:ext cx="603504" cy="566928"/>
          </a:xfrm>
          <a:prstGeom prst="rect">
            <a:avLst/>
          </a:prstGeom>
        </p:spPr>
      </p:pic>
      <p:sp>
        <p:nvSpPr>
          <p:cNvPr id="89" name="Text 76"/>
          <p:cNvSpPr/>
          <p:nvPr/>
        </p:nvSpPr>
        <p:spPr>
          <a:xfrm>
            <a:off x="7379208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· CICS ·</a:t>
            </a:r>
            <a:endParaRPr lang="en-US" sz="1400" dirty="0"/>
          </a:p>
        </p:txBody>
      </p:sp>
      <p:sp>
        <p:nvSpPr>
          <p:cNvPr id="90" name="Text 77"/>
          <p:cNvSpPr/>
          <p:nvPr/>
        </p:nvSpPr>
        <p:spPr>
          <a:xfrm>
            <a:off x="7379208" y="5321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failover</a:t>
            </a:r>
            <a:endParaRPr lang="en-US" sz="1100" dirty="0"/>
          </a:p>
        </p:txBody>
      </p:sp>
      <p:sp>
        <p:nvSpPr>
          <p:cNvPr id="91" name="Text 78"/>
          <p:cNvSpPr/>
          <p:nvPr/>
        </p:nvSpPr>
        <p:spPr>
          <a:xfrm>
            <a:off x="411480" y="6016752"/>
            <a:ext cx="11368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intermediação de fila: os MIPs conectam direto na Cloud (7004); o on-premise (6004) é acionado apenas em </a:t>
            </a:r>
            <a:r>
              <a:rPr lang="en-US" sz="1000" i="1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r>
              <a:rPr lang="en-US" sz="10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92" name="Text 79"/>
          <p:cNvSpPr/>
          <p:nvPr/>
        </p:nvSpPr>
        <p:spPr>
          <a:xfrm>
            <a:off x="411480" y="64556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 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168846"/>
            <a:ext cx="3566160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35172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47517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35172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MIP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972144"/>
            <a:ext cx="914400" cy="7132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703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240280" y="2941408"/>
            <a:ext cx="0" cy="73152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440180" y="3014560"/>
            <a:ext cx="1600200" cy="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1440180" y="3014560"/>
            <a:ext cx="0" cy="9144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3040380" y="3014560"/>
            <a:ext cx="0" cy="9144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77240" y="310600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777240" y="310600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777240" y="310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77240" y="34534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9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377440" y="310600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2377440" y="310600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2377440" y="310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377440" y="34534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85800" y="416256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/>
          <p:nvPr/>
        </p:nvSpPr>
        <p:spPr>
          <a:xfrm>
            <a:off x="685800" y="4162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9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Mastercard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297680" y="1168846"/>
            <a:ext cx="3566160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2"/>
          <p:cNvSpPr/>
          <p:nvPr/>
        </p:nvSpPr>
        <p:spPr>
          <a:xfrm>
            <a:off x="4526280" y="135172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1475170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38928" y="135172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porta</a:t>
            </a:r>
            <a:endParaRPr lang="en-US" sz="1550" dirty="0"/>
          </a:p>
        </p:txBody>
      </p:sp>
      <p:sp>
        <p:nvSpPr>
          <p:cNvPr id="29" name="Shape 24"/>
          <p:cNvSpPr/>
          <p:nvPr/>
        </p:nvSpPr>
        <p:spPr>
          <a:xfrm>
            <a:off x="4526280" y="1991806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/>
          <p:nvPr/>
        </p:nvSpPr>
        <p:spPr>
          <a:xfrm>
            <a:off x="4526280" y="199180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PORTA  —  trio de transações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553712" y="2375854"/>
            <a:ext cx="237744" cy="237744"/>
          </a:xfrm>
          <a:prstGeom prst="ellipse">
            <a:avLst/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7"/>
          <p:cNvSpPr/>
          <p:nvPr/>
        </p:nvSpPr>
        <p:spPr>
          <a:xfrm>
            <a:off x="4553712" y="237585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882896" y="233927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Signon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MIP)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553712" y="2741614"/>
            <a:ext cx="237744" cy="237744"/>
          </a:xfrm>
          <a:prstGeom prst="ellipse">
            <a:avLst/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0"/>
          <p:cNvSpPr/>
          <p:nvPr/>
        </p:nvSpPr>
        <p:spPr>
          <a:xfrm>
            <a:off x="4553712" y="27416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882896" y="270503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 </a:t>
            </a: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MIP)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553712" y="3107374"/>
            <a:ext cx="237744" cy="237744"/>
          </a:xfrm>
          <a:prstGeom prst="ellipse">
            <a:avLst/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3"/>
          <p:cNvSpPr/>
          <p:nvPr/>
        </p:nvSpPr>
        <p:spPr>
          <a:xfrm>
            <a:off x="4553712" y="31073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4882896" y="307079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Troca de </a:t>
            </a: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proc)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526280" y="3546286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6"/>
          <p:cNvSpPr/>
          <p:nvPr/>
        </p:nvSpPr>
        <p:spPr>
          <a:xfrm>
            <a:off x="4526280" y="354628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PORTA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553712" y="3930334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8"/>
          <p:cNvSpPr/>
          <p:nvPr/>
        </p:nvSpPr>
        <p:spPr>
          <a:xfrm>
            <a:off x="4553712" y="393033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4882896" y="389375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Signoff (</a:t>
            </a: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MIP)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4553712" y="4277806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1"/>
          <p:cNvSpPr/>
          <p:nvPr/>
        </p:nvSpPr>
        <p:spPr>
          <a:xfrm>
            <a:off x="4553712" y="427780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4882896" y="424123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Desativação de </a:t>
            </a: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MIP)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8138160" y="1168846"/>
            <a:ext cx="3566160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Shape 44"/>
          <p:cNvSpPr/>
          <p:nvPr/>
        </p:nvSpPr>
        <p:spPr>
          <a:xfrm>
            <a:off x="8366760" y="135172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204" y="1475170"/>
            <a:ext cx="256032" cy="25603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8979408" y="135172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550" dirty="0"/>
          </a:p>
        </p:txBody>
      </p:sp>
      <p:sp>
        <p:nvSpPr>
          <p:cNvPr id="52" name="Text 46"/>
          <p:cNvSpPr/>
          <p:nvPr/>
        </p:nvSpPr>
        <p:spPr>
          <a:xfrm>
            <a:off x="8366760" y="188207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ativa on-premise · desativa cloud</a:t>
            </a:r>
            <a:endParaRPr lang="en-US" sz="1050" dirty="0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101534"/>
            <a:ext cx="914400" cy="713232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9281160" y="283305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1300" dirty="0"/>
          </a:p>
        </p:txBody>
      </p:sp>
      <p:sp>
        <p:nvSpPr>
          <p:cNvPr id="55" name="Shape 48"/>
          <p:cNvSpPr/>
          <p:nvPr/>
        </p:nvSpPr>
        <p:spPr>
          <a:xfrm>
            <a:off x="9921240" y="3070798"/>
            <a:ext cx="0" cy="73152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49"/>
          <p:cNvSpPr/>
          <p:nvPr/>
        </p:nvSpPr>
        <p:spPr>
          <a:xfrm>
            <a:off x="9121140" y="3143950"/>
            <a:ext cx="1600200" cy="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0"/>
          <p:cNvSpPr/>
          <p:nvPr/>
        </p:nvSpPr>
        <p:spPr>
          <a:xfrm>
            <a:off x="9121140" y="3143950"/>
            <a:ext cx="0" cy="9144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1"/>
          <p:cNvSpPr/>
          <p:nvPr/>
        </p:nvSpPr>
        <p:spPr>
          <a:xfrm>
            <a:off x="10721340" y="3143950"/>
            <a:ext cx="0" cy="9144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2"/>
          <p:cNvSpPr/>
          <p:nvPr/>
        </p:nvSpPr>
        <p:spPr>
          <a:xfrm>
            <a:off x="8458200" y="323539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3"/>
          <p:cNvSpPr/>
          <p:nvPr/>
        </p:nvSpPr>
        <p:spPr>
          <a:xfrm>
            <a:off x="8458200" y="323539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4"/>
          <p:cNvSpPr/>
          <p:nvPr/>
        </p:nvSpPr>
        <p:spPr>
          <a:xfrm>
            <a:off x="8458200" y="323539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</a:t>
            </a:r>
            <a:endParaRPr lang="en-US" sz="1000" dirty="0"/>
          </a:p>
        </p:txBody>
      </p:sp>
      <p:sp>
        <p:nvSpPr>
          <p:cNvPr id="62" name="Text 55"/>
          <p:cNvSpPr/>
          <p:nvPr/>
        </p:nvSpPr>
        <p:spPr>
          <a:xfrm>
            <a:off x="8458200" y="356457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8686800" y="380231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28" y="3861754"/>
            <a:ext cx="118872" cy="118872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8951976" y="380231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10058400" y="323539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59"/>
          <p:cNvSpPr/>
          <p:nvPr/>
        </p:nvSpPr>
        <p:spPr>
          <a:xfrm>
            <a:off x="10058400" y="323539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0"/>
          <p:cNvSpPr/>
          <p:nvPr/>
        </p:nvSpPr>
        <p:spPr>
          <a:xfrm>
            <a:off x="10058400" y="323539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</a:t>
            </a:r>
            <a:endParaRPr lang="en-US" sz="1000" dirty="0"/>
          </a:p>
        </p:txBody>
      </p:sp>
      <p:sp>
        <p:nvSpPr>
          <p:cNvPr id="69" name="Text 61"/>
          <p:cNvSpPr/>
          <p:nvPr/>
        </p:nvSpPr>
        <p:spPr>
          <a:xfrm>
            <a:off x="10058400" y="356457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900" dirty="0"/>
          </a:p>
        </p:txBody>
      </p:sp>
      <p:sp>
        <p:nvSpPr>
          <p:cNvPr id="70" name="Shape 62"/>
          <p:cNvSpPr/>
          <p:nvPr/>
        </p:nvSpPr>
        <p:spPr>
          <a:xfrm>
            <a:off x="10222992" y="380231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0" y="3861754"/>
            <a:ext cx="118872" cy="118872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10479024" y="380231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</a:t>
            </a:r>
            <a:endParaRPr lang="en-US" sz="900" dirty="0"/>
          </a:p>
        </p:txBody>
      </p:sp>
      <p:sp>
        <p:nvSpPr>
          <p:cNvPr id="73" name="Shape 64"/>
          <p:cNvSpPr/>
          <p:nvPr/>
        </p:nvSpPr>
        <p:spPr>
          <a:xfrm>
            <a:off x="8366760" y="4222942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65"/>
          <p:cNvSpPr/>
          <p:nvPr/>
        </p:nvSpPr>
        <p:spPr>
          <a:xfrm>
            <a:off x="8412480" y="422294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</a:t>
            </a:r>
            <a:r>
              <a:rPr lang="en-US" sz="950" b="1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inverso  </a:t>
            </a:r>
            <a:r>
              <a:rPr lang="en-US" sz="9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(6004 desativa · 7004 ativa)</a:t>
            </a:r>
            <a:endParaRPr lang="en-US" sz="950" dirty="0"/>
          </a:p>
        </p:txBody>
      </p:sp>
      <p:sp>
        <p:nvSpPr>
          <p:cNvPr id="75" name="Text 66"/>
          <p:cNvSpPr/>
          <p:nvPr/>
        </p:nvSpPr>
        <p:spPr>
          <a:xfrm>
            <a:off x="457200" y="482644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operação</a:t>
            </a:r>
            <a:endParaRPr lang="en-US" sz="1300" dirty="0"/>
          </a:p>
        </p:txBody>
      </p:sp>
      <p:sp>
        <p:nvSpPr>
          <p:cNvPr id="76" name="Shape 67"/>
          <p:cNvSpPr/>
          <p:nvPr/>
        </p:nvSpPr>
        <p:spPr>
          <a:xfrm>
            <a:off x="457200" y="5137342"/>
            <a:ext cx="5486400" cy="1335024"/>
          </a:xfrm>
          <a:prstGeom prst="roundRect">
            <a:avLst>
              <a:gd name="adj" fmla="val 4795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68"/>
          <p:cNvSpPr/>
          <p:nvPr/>
        </p:nvSpPr>
        <p:spPr>
          <a:xfrm>
            <a:off x="658368" y="533851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5448238"/>
            <a:ext cx="237744" cy="237744"/>
          </a:xfrm>
          <a:prstGeom prst="rect">
            <a:avLst/>
          </a:prstGeom>
        </p:spPr>
      </p:pic>
      <p:sp>
        <p:nvSpPr>
          <p:cNvPr id="79" name="Text 69"/>
          <p:cNvSpPr/>
          <p:nvPr/>
        </p:nvSpPr>
        <p:spPr>
          <a:xfrm>
            <a:off x="1234440" y="530193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— por ambiente e MIP</a:t>
            </a:r>
            <a:endParaRPr lang="en-US" sz="1250" dirty="0"/>
          </a:p>
        </p:txBody>
      </p:sp>
      <p:sp>
        <p:nvSpPr>
          <p:cNvPr id="80" name="Text 70"/>
          <p:cNvSpPr/>
          <p:nvPr/>
        </p:nvSpPr>
        <p:spPr>
          <a:xfrm>
            <a:off x="1234440" y="559454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comando individual por MIP e ambiente:</a:t>
            </a:r>
            <a:endParaRPr lang="en-US" sz="1000" dirty="0"/>
          </a:p>
        </p:txBody>
      </p:sp>
      <p:sp>
        <p:nvSpPr>
          <p:cNvPr id="81" name="Shape 71"/>
          <p:cNvSpPr/>
          <p:nvPr/>
        </p:nvSpPr>
        <p:spPr>
          <a:xfrm>
            <a:off x="1234440" y="590543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72"/>
          <p:cNvSpPr/>
          <p:nvPr/>
        </p:nvSpPr>
        <p:spPr>
          <a:xfrm>
            <a:off x="1325880" y="590543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sign-on,j2,aws</a:t>
            </a:r>
            <a:endParaRPr lang="en-US" sz="1200" dirty="0"/>
          </a:p>
        </p:txBody>
      </p:sp>
      <p:sp>
        <p:nvSpPr>
          <p:cNvPr id="83" name="Shape 73"/>
          <p:cNvSpPr/>
          <p:nvPr/>
        </p:nvSpPr>
        <p:spPr>
          <a:xfrm>
            <a:off x="3566160" y="590543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74"/>
          <p:cNvSpPr/>
          <p:nvPr/>
        </p:nvSpPr>
        <p:spPr>
          <a:xfrm>
            <a:off x="3657600" y="590543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sign-off,j2,cics</a:t>
            </a:r>
            <a:endParaRPr lang="en-US" sz="1200" dirty="0"/>
          </a:p>
        </p:txBody>
      </p:sp>
      <p:sp>
        <p:nvSpPr>
          <p:cNvPr id="85" name="Shape 75"/>
          <p:cNvSpPr/>
          <p:nvPr/>
        </p:nvSpPr>
        <p:spPr>
          <a:xfrm>
            <a:off x="6217920" y="5137342"/>
            <a:ext cx="5486400" cy="1335024"/>
          </a:xfrm>
          <a:prstGeom prst="roundRect">
            <a:avLst>
              <a:gd name="adj" fmla="val 4795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76"/>
          <p:cNvSpPr/>
          <p:nvPr/>
        </p:nvSpPr>
        <p:spPr>
          <a:xfrm>
            <a:off x="6419088" y="533851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5448238"/>
            <a:ext cx="237744" cy="237744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6995160" y="530193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 — em lote nos 9 MIPs</a:t>
            </a:r>
            <a:endParaRPr lang="en-US" sz="1250" dirty="0"/>
          </a:p>
        </p:txBody>
      </p:sp>
      <p:sp>
        <p:nvSpPr>
          <p:cNvPr id="89" name="Text 78"/>
          <p:cNvSpPr/>
          <p:nvPr/>
        </p:nvSpPr>
        <p:spPr>
          <a:xfrm>
            <a:off x="6995160" y="559454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o failover completo: ativa/desativa todas as portas dos 9 MIPs de uma só vez.</a:t>
            </a:r>
            <a:endParaRPr lang="en-US" sz="1050" dirty="0"/>
          </a:p>
        </p:txBody>
      </p:sp>
      <p:sp>
        <p:nvSpPr>
          <p:cNvPr id="90" name="Text 79"/>
          <p:cNvSpPr/>
          <p:nvPr/>
        </p:nvSpPr>
        <p:spPr>
          <a:xfrm>
            <a:off x="6995160" y="601516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 → ATIVA</a:t>
            </a: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 → DESATIVA</a:t>
            </a:r>
            <a:r>
              <a:rPr lang="en-US" sz="10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(inverso no retorno)</a:t>
            </a:r>
            <a:endParaRPr lang="en-US" sz="1000" dirty="0"/>
          </a:p>
        </p:txBody>
      </p:sp>
      <p:sp>
        <p:nvSpPr>
          <p:cNvPr id="101" name="Shape 0">
            <a:extLst>
              <a:ext uri="{FF2B5EF4-FFF2-40B4-BE49-F238E27FC236}">
                <a16:creationId xmlns:a16="http://schemas.microsoft.com/office/drawing/2014/main" id="{80557A2A-0877-0944-442C-98C063AC57F4}"/>
              </a:ext>
            </a:extLst>
          </p:cNvPr>
          <p:cNvSpPr/>
          <p:nvPr/>
        </p:nvSpPr>
        <p:spPr>
          <a:xfrm>
            <a:off x="411480" y="256032"/>
            <a:ext cx="11368735" cy="786384"/>
          </a:xfrm>
          <a:prstGeom prst="roundRect">
            <a:avLst>
              <a:gd name="adj" fmla="val 6977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 1">
            <a:extLst>
              <a:ext uri="{FF2B5EF4-FFF2-40B4-BE49-F238E27FC236}">
                <a16:creationId xmlns:a16="http://schemas.microsoft.com/office/drawing/2014/main" id="{24FA4470-87E3-C841-A0CA-31ED7BE39FC3}"/>
              </a:ext>
            </a:extLst>
          </p:cNvPr>
          <p:cNvSpPr/>
          <p:nvPr/>
        </p:nvSpPr>
        <p:spPr>
          <a:xfrm>
            <a:off x="649224" y="405115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Multiconexão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MIP Mastercard</a:t>
            </a:r>
            <a:endParaRPr lang="en-US" sz="2200" dirty="0"/>
          </a:p>
        </p:txBody>
      </p:sp>
      <p:sp>
        <p:nvSpPr>
          <p:cNvPr id="105" name="Text 2">
            <a:extLst>
              <a:ext uri="{FF2B5EF4-FFF2-40B4-BE49-F238E27FC236}">
                <a16:creationId xmlns:a16="http://schemas.microsoft.com/office/drawing/2014/main" id="{0F4B5B79-0369-66D1-25B9-7155A601AC62}"/>
              </a:ext>
            </a:extLst>
          </p:cNvPr>
          <p:cNvSpPr/>
          <p:nvPr/>
        </p:nvSpPr>
        <p:spPr>
          <a:xfrm>
            <a:off x="667512" y="722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7" name="Shape 3">
            <a:extLst>
              <a:ext uri="{FF2B5EF4-FFF2-40B4-BE49-F238E27FC236}">
                <a16:creationId xmlns:a16="http://schemas.microsoft.com/office/drawing/2014/main" id="{3247FCE8-3C4D-D4CE-97F5-44F79429E5FB}"/>
              </a:ext>
            </a:extLst>
          </p:cNvPr>
          <p:cNvSpPr/>
          <p:nvPr/>
        </p:nvSpPr>
        <p:spPr>
          <a:xfrm>
            <a:off x="8780983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Text 4">
            <a:extLst>
              <a:ext uri="{FF2B5EF4-FFF2-40B4-BE49-F238E27FC236}">
                <a16:creationId xmlns:a16="http://schemas.microsoft.com/office/drawing/2014/main" id="{921A9FA3-AA89-F0B2-CB1A-BE846B1F3593}"/>
              </a:ext>
            </a:extLst>
          </p:cNvPr>
          <p:cNvSpPr/>
          <p:nvPr/>
        </p:nvSpPr>
        <p:spPr>
          <a:xfrm>
            <a:off x="8780983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Desativação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Contingência</a:t>
            </a:r>
            <a:endParaRPr lang="en-US" sz="1100" dirty="0"/>
          </a:p>
        </p:txBody>
      </p:sp>
      <p:sp>
        <p:nvSpPr>
          <p:cNvPr id="111" name="Text 79">
            <a:extLst>
              <a:ext uri="{FF2B5EF4-FFF2-40B4-BE49-F238E27FC236}">
                <a16:creationId xmlns:a16="http://schemas.microsoft.com/office/drawing/2014/main" id="{B4761EBB-9093-6F85-E3DE-A62275A373CB}"/>
              </a:ext>
            </a:extLst>
          </p:cNvPr>
          <p:cNvSpPr/>
          <p:nvPr/>
        </p:nvSpPr>
        <p:spPr>
          <a:xfrm>
            <a:off x="411480" y="65192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 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344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819656"/>
            <a:ext cx="713232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600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 AUTS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54096"/>
            <a:ext cx="79552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4208" y="28346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Operação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3383280" y="1600200"/>
            <a:ext cx="24688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4233672" y="1856232"/>
            <a:ext cx="768096" cy="768096"/>
          </a:xfrm>
          <a:prstGeom prst="ellipse">
            <a:avLst/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202082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27340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Batch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84448" y="3099816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o comando </a:t>
            </a:r>
            <a:r>
              <a:rPr lang="en-US" sz="110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</a:t>
            </a: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frontend, e orquestra as transações para envio das mensagerias ISO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309360" y="1600200"/>
            <a:ext cx="24688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7159752" y="1856232"/>
            <a:ext cx="768096" cy="768096"/>
          </a:xfrm>
          <a:prstGeom prst="ellipse">
            <a:avLst/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2020824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46520" y="27340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Online ()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510528" y="3099816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as mensagerias ISO para a Mastercard.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235440" y="1344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MIP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235440" y="160020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C5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18745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0" y="1600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</a:t>
            </a:r>
            <a:endParaRPr lang="en-US" sz="13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· mainframe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9235440" y="265176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EC7000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0" y="281635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5840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</a:t>
            </a:r>
            <a:endParaRPr lang="en-US" sz="13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9418320" y="3310128"/>
            <a:ext cx="210312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/>
          <p:nvPr/>
        </p:nvSpPr>
        <p:spPr>
          <a:xfrm>
            <a:off x="9418320" y="3337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 cloud: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9528048" y="35661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3639312"/>
            <a:ext cx="128016" cy="12801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802368" y="35661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10543032" y="3703320"/>
            <a:ext cx="201168" cy="0"/>
          </a:xfrm>
          <a:prstGeom prst="line">
            <a:avLst/>
          </a:prstGeom>
          <a:noFill/>
          <a:ln w="22225">
            <a:solidFill>
              <a:srgbClr val="5A677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25"/>
          <p:cNvSpPr/>
          <p:nvPr/>
        </p:nvSpPr>
        <p:spPr>
          <a:xfrm>
            <a:off x="10799064" y="356616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90504" y="3639312"/>
            <a:ext cx="128016" cy="12801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1055096" y="3566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2971800" y="2148840"/>
            <a:ext cx="393192" cy="61722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28"/>
          <p:cNvSpPr/>
          <p:nvPr/>
        </p:nvSpPr>
        <p:spPr>
          <a:xfrm flipV="1">
            <a:off x="2971800" y="2811779"/>
            <a:ext cx="411480" cy="571501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29"/>
          <p:cNvSpPr/>
          <p:nvPr/>
        </p:nvSpPr>
        <p:spPr>
          <a:xfrm>
            <a:off x="2724912" y="26471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5897880" y="2766060"/>
            <a:ext cx="365760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1"/>
          <p:cNvSpPr/>
          <p:nvPr/>
        </p:nvSpPr>
        <p:spPr>
          <a:xfrm>
            <a:off x="5806440" y="23820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 flipV="1">
            <a:off x="8778240" y="2194560"/>
            <a:ext cx="438912" cy="566928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33"/>
          <p:cNvSpPr/>
          <p:nvPr/>
        </p:nvSpPr>
        <p:spPr>
          <a:xfrm>
            <a:off x="8778240" y="2766060"/>
            <a:ext cx="438912" cy="52578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4"/>
          <p:cNvSpPr/>
          <p:nvPr/>
        </p:nvSpPr>
        <p:spPr>
          <a:xfrm>
            <a:off x="8649031" y="26340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457200" y="4434840"/>
            <a:ext cx="1124712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36"/>
          <p:cNvSpPr/>
          <p:nvPr/>
        </p:nvSpPr>
        <p:spPr>
          <a:xfrm>
            <a:off x="731520" y="45994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gerados no online e executados nas portas</a:t>
            </a:r>
            <a:endParaRPr lang="en-US" sz="1400" dirty="0"/>
          </a:p>
        </p:txBody>
      </p:sp>
      <p:sp>
        <p:nvSpPr>
          <p:cNvPr id="47" name="Shape 37"/>
          <p:cNvSpPr/>
          <p:nvPr/>
        </p:nvSpPr>
        <p:spPr>
          <a:xfrm>
            <a:off x="731520" y="5074920"/>
            <a:ext cx="5074920" cy="310896"/>
          </a:xfrm>
          <a:prstGeom prst="roundRect">
            <a:avLst>
              <a:gd name="adj" fmla="val 14706"/>
            </a:avLst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38"/>
          <p:cNvSpPr/>
          <p:nvPr/>
        </p:nvSpPr>
        <p:spPr>
          <a:xfrm>
            <a:off x="731520" y="50749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PORTA  —  trio de transações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731520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B7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0"/>
          <p:cNvSpPr/>
          <p:nvPr/>
        </p:nvSpPr>
        <p:spPr>
          <a:xfrm>
            <a:off x="786384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Signon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2212848" y="5797296"/>
            <a:ext cx="246888" cy="0"/>
          </a:xfrm>
          <a:prstGeom prst="line">
            <a:avLst/>
          </a:prstGeom>
          <a:noFill/>
          <a:ln w="25400">
            <a:solidFill>
              <a:srgbClr val="1B7A4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42"/>
          <p:cNvSpPr/>
          <p:nvPr/>
        </p:nvSpPr>
        <p:spPr>
          <a:xfrm>
            <a:off x="2523744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B7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3"/>
          <p:cNvSpPr/>
          <p:nvPr/>
        </p:nvSpPr>
        <p:spPr>
          <a:xfrm>
            <a:off x="2578608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 sessão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4005072" y="5797296"/>
            <a:ext cx="246888" cy="0"/>
          </a:xfrm>
          <a:prstGeom prst="line">
            <a:avLst/>
          </a:prstGeom>
          <a:noFill/>
          <a:ln w="25400">
            <a:solidFill>
              <a:srgbClr val="1B7A4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45"/>
          <p:cNvSpPr/>
          <p:nvPr/>
        </p:nvSpPr>
        <p:spPr>
          <a:xfrm>
            <a:off x="4315968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B7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46"/>
          <p:cNvSpPr/>
          <p:nvPr/>
        </p:nvSpPr>
        <p:spPr>
          <a:xfrm>
            <a:off x="4370832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Troca de chave</a:t>
            </a:r>
            <a:endParaRPr lang="en-US" sz="1050" dirty="0"/>
          </a:p>
        </p:txBody>
      </p:sp>
      <p:sp>
        <p:nvSpPr>
          <p:cNvPr id="57" name="Shape 47"/>
          <p:cNvSpPr/>
          <p:nvPr/>
        </p:nvSpPr>
        <p:spPr>
          <a:xfrm>
            <a:off x="6355080" y="5074920"/>
            <a:ext cx="5074920" cy="310896"/>
          </a:xfrm>
          <a:prstGeom prst="roundRect">
            <a:avLst>
              <a:gd name="adj" fmla="val 1470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48"/>
          <p:cNvSpPr/>
          <p:nvPr/>
        </p:nvSpPr>
        <p:spPr>
          <a:xfrm>
            <a:off x="6355080" y="50749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PORTA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7255764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0"/>
          <p:cNvSpPr/>
          <p:nvPr/>
        </p:nvSpPr>
        <p:spPr>
          <a:xfrm>
            <a:off x="7310628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Signoff</a:t>
            </a:r>
            <a:endParaRPr lang="en-US" sz="1050" dirty="0"/>
          </a:p>
        </p:txBody>
      </p:sp>
      <p:sp>
        <p:nvSpPr>
          <p:cNvPr id="61" name="Shape 51"/>
          <p:cNvSpPr/>
          <p:nvPr/>
        </p:nvSpPr>
        <p:spPr>
          <a:xfrm>
            <a:off x="8737092" y="5797296"/>
            <a:ext cx="246888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52"/>
          <p:cNvSpPr/>
          <p:nvPr/>
        </p:nvSpPr>
        <p:spPr>
          <a:xfrm>
            <a:off x="9047988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53"/>
          <p:cNvSpPr/>
          <p:nvPr/>
        </p:nvSpPr>
        <p:spPr>
          <a:xfrm>
            <a:off x="9102852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Desativação de sessão</a:t>
            </a:r>
            <a:endParaRPr lang="en-US" sz="1050" dirty="0"/>
          </a:p>
        </p:txBody>
      </p:sp>
      <p:sp>
        <p:nvSpPr>
          <p:cNvPr id="65" name="Shape 0">
            <a:extLst>
              <a:ext uri="{FF2B5EF4-FFF2-40B4-BE49-F238E27FC236}">
                <a16:creationId xmlns:a16="http://schemas.microsoft.com/office/drawing/2014/main" id="{925F15B6-F6E4-B905-AAEB-859BC634489D}"/>
              </a:ext>
            </a:extLst>
          </p:cNvPr>
          <p:cNvSpPr/>
          <p:nvPr/>
        </p:nvSpPr>
        <p:spPr>
          <a:xfrm>
            <a:off x="411480" y="256032"/>
            <a:ext cx="11368735" cy="786384"/>
          </a:xfrm>
          <a:prstGeom prst="roundRect">
            <a:avLst>
              <a:gd name="adj" fmla="val 6977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1">
            <a:extLst>
              <a:ext uri="{FF2B5EF4-FFF2-40B4-BE49-F238E27FC236}">
                <a16:creationId xmlns:a16="http://schemas.microsoft.com/office/drawing/2014/main" id="{45BE8712-FC70-9746-2C7E-6F82F2C7BE1A}"/>
              </a:ext>
            </a:extLst>
          </p:cNvPr>
          <p:cNvSpPr/>
          <p:nvPr/>
        </p:nvSpPr>
        <p:spPr>
          <a:xfrm>
            <a:off x="649224" y="405115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Multiconexão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MIP Mastercard</a:t>
            </a:r>
            <a:endParaRPr lang="en-US" sz="2200" dirty="0"/>
          </a:p>
        </p:txBody>
      </p:sp>
      <p:sp>
        <p:nvSpPr>
          <p:cNvPr id="69" name="Text 2">
            <a:extLst>
              <a:ext uri="{FF2B5EF4-FFF2-40B4-BE49-F238E27FC236}">
                <a16:creationId xmlns:a16="http://schemas.microsoft.com/office/drawing/2014/main" id="{9AC5A410-BF31-E1EA-9C9E-4884BCDE447B}"/>
              </a:ext>
            </a:extLst>
          </p:cNvPr>
          <p:cNvSpPr/>
          <p:nvPr/>
        </p:nvSpPr>
        <p:spPr>
          <a:xfrm>
            <a:off x="667512" y="722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1" name="Shape 3">
            <a:extLst>
              <a:ext uri="{FF2B5EF4-FFF2-40B4-BE49-F238E27FC236}">
                <a16:creationId xmlns:a16="http://schemas.microsoft.com/office/drawing/2014/main" id="{D43901D4-4E1C-74BC-67B0-A575AA6F1930}"/>
              </a:ext>
            </a:extLst>
          </p:cNvPr>
          <p:cNvSpPr/>
          <p:nvPr/>
        </p:nvSpPr>
        <p:spPr>
          <a:xfrm>
            <a:off x="8780983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6306D3C1-7E5C-B1D0-FA85-3B0598799475}"/>
              </a:ext>
            </a:extLst>
          </p:cNvPr>
          <p:cNvSpPr/>
          <p:nvPr/>
        </p:nvSpPr>
        <p:spPr>
          <a:xfrm>
            <a:off x="8780983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1100" dirty="0"/>
          </a:p>
        </p:txBody>
      </p:sp>
      <p:sp>
        <p:nvSpPr>
          <p:cNvPr id="77" name="Text 79">
            <a:extLst>
              <a:ext uri="{FF2B5EF4-FFF2-40B4-BE49-F238E27FC236}">
                <a16:creationId xmlns:a16="http://schemas.microsoft.com/office/drawing/2014/main" id="{A32834C9-2C83-B5FA-ECC6-9F86EAA260D0}"/>
              </a:ext>
            </a:extLst>
          </p:cNvPr>
          <p:cNvSpPr/>
          <p:nvPr/>
        </p:nvSpPr>
        <p:spPr>
          <a:xfrm>
            <a:off x="411480" y="65192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 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539</Words>
  <Application>Microsoft Office PowerPoint</Application>
  <PresentationFormat>Widescreen</PresentationFormat>
  <Paragraphs>152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 - Topologia Atual e TO-BE</dc:title>
  <dc:subject>PptxGenJS Presentation</dc:subject>
  <dc:creator>PptxGenJS</dc:creator>
  <cp:lastModifiedBy>MARCELO GABRIEL</cp:lastModifiedBy>
  <cp:revision>23</cp:revision>
  <dcterms:created xsi:type="dcterms:W3CDTF">2026-07-07T16:37:53Z</dcterms:created>
  <dcterms:modified xsi:type="dcterms:W3CDTF">2026-07-07T17:03:47Z</dcterms:modified>
</cp:coreProperties>
</file>