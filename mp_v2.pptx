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1677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Portas MIP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3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9 servidores MIP Mastercard (On-premise + Cloud AWS)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8648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MIP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2083458"/>
            <a:ext cx="914400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1497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240280" y="3052722"/>
            <a:ext cx="0" cy="73152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1440180" y="3125874"/>
            <a:ext cx="1600200" cy="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1440180" y="3125874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3040380" y="3125874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777240" y="3217314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777240" y="3217314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777240" y="321731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77240" y="356478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9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377440" y="3217314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2377440" y="3217314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2377440" y="321731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377440" y="356478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85800" y="4273874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/>
          <p:nvPr/>
        </p:nvSpPr>
        <p:spPr>
          <a:xfrm>
            <a:off x="685800" y="427387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9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 Mastercard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297680" y="1280160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2"/>
          <p:cNvSpPr/>
          <p:nvPr/>
        </p:nvSpPr>
        <p:spPr>
          <a:xfrm>
            <a:off x="452628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24" y="1586484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38928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porta</a:t>
            </a:r>
            <a:endParaRPr lang="en-US" sz="1550" dirty="0"/>
          </a:p>
        </p:txBody>
      </p:sp>
      <p:sp>
        <p:nvSpPr>
          <p:cNvPr id="29" name="Shape 24"/>
          <p:cNvSpPr/>
          <p:nvPr/>
        </p:nvSpPr>
        <p:spPr>
          <a:xfrm>
            <a:off x="4526280" y="210312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/>
          <p:nvPr/>
        </p:nvSpPr>
        <p:spPr>
          <a:xfrm>
            <a:off x="4526280" y="21031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PORTA  —  trio de transações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553712" y="2487168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7"/>
          <p:cNvSpPr/>
          <p:nvPr/>
        </p:nvSpPr>
        <p:spPr>
          <a:xfrm>
            <a:off x="4553712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882896" y="245059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Signon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4553712" y="2852928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0"/>
          <p:cNvSpPr/>
          <p:nvPr/>
        </p:nvSpPr>
        <p:spPr>
          <a:xfrm>
            <a:off x="4553712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4882896" y="28163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sessão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4553712" y="3218688"/>
            <a:ext cx="237744" cy="237744"/>
          </a:xfrm>
          <a:prstGeom prst="ellipse">
            <a:avLst/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/>
          <p:nvPr/>
        </p:nvSpPr>
        <p:spPr>
          <a:xfrm>
            <a:off x="4553712" y="3218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882896" y="318211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Troca de chave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526280" y="365760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6"/>
          <p:cNvSpPr/>
          <p:nvPr/>
        </p:nvSpPr>
        <p:spPr>
          <a:xfrm>
            <a:off x="4526280" y="36576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PORTA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553712" y="4041648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8"/>
          <p:cNvSpPr/>
          <p:nvPr/>
        </p:nvSpPr>
        <p:spPr>
          <a:xfrm>
            <a:off x="4553712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4882896" y="400507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553712" y="438912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1"/>
          <p:cNvSpPr/>
          <p:nvPr/>
        </p:nvSpPr>
        <p:spPr>
          <a:xfrm>
            <a:off x="4553712" y="43891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4882896" y="43525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de sessão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8138160" y="1280160"/>
            <a:ext cx="3566160" cy="349300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9" name="Shape 44"/>
          <p:cNvSpPr/>
          <p:nvPr/>
        </p:nvSpPr>
        <p:spPr>
          <a:xfrm>
            <a:off x="8366760" y="14630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204" y="1586484"/>
            <a:ext cx="256032" cy="25603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8979408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550" dirty="0"/>
          </a:p>
        </p:txBody>
      </p:sp>
      <p:sp>
        <p:nvSpPr>
          <p:cNvPr id="52" name="Text 46"/>
          <p:cNvSpPr/>
          <p:nvPr/>
        </p:nvSpPr>
        <p:spPr>
          <a:xfrm>
            <a:off x="8366760" y="1993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ativa on-premise · desativa cloud</a:t>
            </a:r>
            <a:endParaRPr lang="en-US" sz="1050" dirty="0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212848"/>
            <a:ext cx="914400" cy="713232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9281160" y="29443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</a:t>
            </a:r>
            <a:endParaRPr lang="en-US" sz="1300" dirty="0"/>
          </a:p>
        </p:txBody>
      </p:sp>
      <p:sp>
        <p:nvSpPr>
          <p:cNvPr id="55" name="Shape 48"/>
          <p:cNvSpPr/>
          <p:nvPr/>
        </p:nvSpPr>
        <p:spPr>
          <a:xfrm>
            <a:off x="9921240" y="3182112"/>
            <a:ext cx="0" cy="73152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49"/>
          <p:cNvSpPr/>
          <p:nvPr/>
        </p:nvSpPr>
        <p:spPr>
          <a:xfrm>
            <a:off x="9121140" y="3255264"/>
            <a:ext cx="1600200" cy="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0"/>
          <p:cNvSpPr/>
          <p:nvPr/>
        </p:nvSpPr>
        <p:spPr>
          <a:xfrm>
            <a:off x="9121140" y="3255264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Shape 51"/>
          <p:cNvSpPr/>
          <p:nvPr/>
        </p:nvSpPr>
        <p:spPr>
          <a:xfrm>
            <a:off x="10721340" y="3255264"/>
            <a:ext cx="0" cy="91440"/>
          </a:xfrm>
          <a:prstGeom prst="line">
            <a:avLst/>
          </a:prstGeom>
          <a:noFill/>
          <a:ln w="19050">
            <a:solidFill>
              <a:srgbClr val="5A67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2"/>
          <p:cNvSpPr/>
          <p:nvPr/>
        </p:nvSpPr>
        <p:spPr>
          <a:xfrm>
            <a:off x="8458200" y="3346704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Shape 53"/>
          <p:cNvSpPr/>
          <p:nvPr/>
        </p:nvSpPr>
        <p:spPr>
          <a:xfrm>
            <a:off x="8458200" y="3346704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4"/>
          <p:cNvSpPr/>
          <p:nvPr/>
        </p:nvSpPr>
        <p:spPr>
          <a:xfrm>
            <a:off x="8458200" y="3346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8458200" y="36758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63" name="Shape 56"/>
          <p:cNvSpPr/>
          <p:nvPr/>
        </p:nvSpPr>
        <p:spPr>
          <a:xfrm>
            <a:off x="8686800" y="391363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3973068"/>
            <a:ext cx="118872" cy="118872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8951976" y="39136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</a:t>
            </a:r>
            <a:endParaRPr lang="en-US" sz="900" dirty="0"/>
          </a:p>
        </p:txBody>
      </p:sp>
      <p:sp>
        <p:nvSpPr>
          <p:cNvPr id="66" name="Shape 58"/>
          <p:cNvSpPr/>
          <p:nvPr/>
        </p:nvSpPr>
        <p:spPr>
          <a:xfrm>
            <a:off x="10058400" y="3346704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59"/>
          <p:cNvSpPr/>
          <p:nvPr/>
        </p:nvSpPr>
        <p:spPr>
          <a:xfrm>
            <a:off x="10058400" y="3346704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0"/>
          <p:cNvSpPr/>
          <p:nvPr/>
        </p:nvSpPr>
        <p:spPr>
          <a:xfrm>
            <a:off x="10058400" y="334670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10058400" y="36758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900" dirty="0"/>
          </a:p>
        </p:txBody>
      </p:sp>
      <p:sp>
        <p:nvSpPr>
          <p:cNvPr id="70" name="Shape 62"/>
          <p:cNvSpPr/>
          <p:nvPr/>
        </p:nvSpPr>
        <p:spPr>
          <a:xfrm>
            <a:off x="10222992" y="39136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0" y="3973068"/>
            <a:ext cx="118872" cy="118872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10479024" y="39136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8366760" y="4334256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65"/>
          <p:cNvSpPr/>
          <p:nvPr/>
        </p:nvSpPr>
        <p:spPr>
          <a:xfrm>
            <a:off x="8412480" y="43342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contingência = inverso  </a:t>
            </a: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(6004 desativa · 7004 ativa)</a:t>
            </a:r>
            <a:endParaRPr lang="en-US" sz="950" dirty="0"/>
          </a:p>
        </p:txBody>
      </p:sp>
      <p:sp>
        <p:nvSpPr>
          <p:cNvPr id="75" name="Text 66"/>
          <p:cNvSpPr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operação</a:t>
            </a:r>
            <a:endParaRPr lang="en-US" sz="1300" dirty="0"/>
          </a:p>
        </p:txBody>
      </p:sp>
      <p:sp>
        <p:nvSpPr>
          <p:cNvPr id="76" name="Shape 67"/>
          <p:cNvSpPr/>
          <p:nvPr/>
        </p:nvSpPr>
        <p:spPr>
          <a:xfrm>
            <a:off x="457200" y="5248656"/>
            <a:ext cx="5486400" cy="1335024"/>
          </a:xfrm>
          <a:prstGeom prst="roundRect">
            <a:avLst>
              <a:gd name="adj" fmla="val 4795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68"/>
          <p:cNvSpPr/>
          <p:nvPr/>
        </p:nvSpPr>
        <p:spPr>
          <a:xfrm>
            <a:off x="658368" y="5449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8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559552"/>
            <a:ext cx="237744" cy="237744"/>
          </a:xfrm>
          <a:prstGeom prst="rect">
            <a:avLst/>
          </a:prstGeom>
        </p:spPr>
      </p:pic>
      <p:sp>
        <p:nvSpPr>
          <p:cNvPr id="79" name="Text 69"/>
          <p:cNvSpPr/>
          <p:nvPr/>
        </p:nvSpPr>
        <p:spPr>
          <a:xfrm>
            <a:off x="1234440" y="5413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— por ambiente e MIP</a:t>
            </a:r>
            <a:endParaRPr lang="en-US" sz="1250" dirty="0"/>
          </a:p>
        </p:txBody>
      </p:sp>
      <p:sp>
        <p:nvSpPr>
          <p:cNvPr id="80" name="Text 70"/>
          <p:cNvSpPr/>
          <p:nvPr/>
        </p:nvSpPr>
        <p:spPr>
          <a:xfrm>
            <a:off x="1234440" y="570585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comando individual por MIP e ambiente: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>
            <a:off x="1234440" y="6016752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72"/>
          <p:cNvSpPr/>
          <p:nvPr/>
        </p:nvSpPr>
        <p:spPr>
          <a:xfrm>
            <a:off x="1325880" y="6016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sign-on,j2,aws</a:t>
            </a:r>
            <a:endParaRPr lang="en-US" sz="1200" dirty="0"/>
          </a:p>
        </p:txBody>
      </p:sp>
      <p:sp>
        <p:nvSpPr>
          <p:cNvPr id="83" name="Shape 73"/>
          <p:cNvSpPr/>
          <p:nvPr/>
        </p:nvSpPr>
        <p:spPr>
          <a:xfrm>
            <a:off x="3566160" y="6016752"/>
            <a:ext cx="2194560" cy="384048"/>
          </a:xfrm>
          <a:prstGeom prst="roundRect">
            <a:avLst>
              <a:gd name="adj" fmla="val 11905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74"/>
          <p:cNvSpPr/>
          <p:nvPr/>
        </p:nvSpPr>
        <p:spPr>
          <a:xfrm>
            <a:off x="3657600" y="6016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E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sign-off,j2,cics</a:t>
            </a:r>
            <a:endParaRPr lang="en-US" sz="1200" dirty="0"/>
          </a:p>
        </p:txBody>
      </p:sp>
      <p:sp>
        <p:nvSpPr>
          <p:cNvPr id="85" name="Shape 75"/>
          <p:cNvSpPr/>
          <p:nvPr/>
        </p:nvSpPr>
        <p:spPr>
          <a:xfrm>
            <a:off x="6217920" y="5248656"/>
            <a:ext cx="5486400" cy="1335024"/>
          </a:xfrm>
          <a:prstGeom prst="roundRect">
            <a:avLst>
              <a:gd name="adj" fmla="val 4795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76"/>
          <p:cNvSpPr/>
          <p:nvPr/>
        </p:nvSpPr>
        <p:spPr>
          <a:xfrm>
            <a:off x="6419088" y="54498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8816" y="5559552"/>
            <a:ext cx="237744" cy="237744"/>
          </a:xfrm>
          <a:prstGeom prst="rect">
            <a:avLst/>
          </a:prstGeom>
        </p:spPr>
      </p:pic>
      <p:sp>
        <p:nvSpPr>
          <p:cNvPr id="88" name="Text 77"/>
          <p:cNvSpPr/>
          <p:nvPr/>
        </p:nvSpPr>
        <p:spPr>
          <a:xfrm>
            <a:off x="6995160" y="541324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 — em lote nos 9 MIPs</a:t>
            </a:r>
            <a:endParaRPr lang="en-US" sz="1250" dirty="0"/>
          </a:p>
        </p:txBody>
      </p:sp>
      <p:sp>
        <p:nvSpPr>
          <p:cNvPr id="89" name="Text 78"/>
          <p:cNvSpPr/>
          <p:nvPr/>
        </p:nvSpPr>
        <p:spPr>
          <a:xfrm>
            <a:off x="6995160" y="570585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o failover completo: ativa/desativa todas as portas dos 9 MIPs de uma só vez.</a:t>
            </a:r>
            <a:endParaRPr lang="en-US" sz="1050" dirty="0"/>
          </a:p>
        </p:txBody>
      </p:sp>
      <p:sp>
        <p:nvSpPr>
          <p:cNvPr id="90" name="Text 79"/>
          <p:cNvSpPr/>
          <p:nvPr/>
        </p:nvSpPr>
        <p:spPr>
          <a:xfrm>
            <a:off x="6995160" y="6126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6004 → ATIVA</a:t>
            </a:r>
            <a:r>
              <a:rPr lang="en-US" sz="10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7004 → DESATIVA</a:t>
            </a:r>
            <a:r>
              <a:rPr lang="en-US" sz="100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(inverso no retorno)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Execução dos Comandos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Batch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no Online</a:t>
            </a:r>
            <a:r>
              <a:rPr lang="en-US" sz="13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1350" b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MIP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344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819656"/>
            <a:ext cx="713232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6002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SMAP AUTS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24688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54096"/>
            <a:ext cx="79552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4208" y="283464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Operação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383280" y="1600200"/>
            <a:ext cx="24688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4233672" y="1856232"/>
            <a:ext cx="768096" cy="768096"/>
          </a:xfrm>
          <a:prstGeom prst="ellipse">
            <a:avLst/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2020824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20440" y="2734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Batch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84448" y="3099816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o comando </a:t>
            </a:r>
            <a:r>
              <a:rPr lang="en-US" sz="1100" dirty="0" err="1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</a:t>
            </a: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frontend, e orquestra as transações para envio das mensagerias ISO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309360" y="1600200"/>
            <a:ext cx="24688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2"/>
          <p:cNvSpPr/>
          <p:nvPr/>
        </p:nvSpPr>
        <p:spPr>
          <a:xfrm>
            <a:off x="7159752" y="1856232"/>
            <a:ext cx="768096" cy="768096"/>
          </a:xfrm>
          <a:prstGeom prst="ellipse">
            <a:avLst/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020824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46520" y="27340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Online (GRBE)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510528" y="3099816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as mensagerias ISO para a Mastercard.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235440" y="13441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MIP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235440" y="160020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002C5F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187452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0" y="1600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6004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· mainframe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9235440" y="2651760"/>
            <a:ext cx="24688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5875">
            <a:solidFill>
              <a:srgbClr val="EC7000"/>
            </a:solidFill>
            <a:prstDash val="solid"/>
          </a:ln>
          <a:effectLst>
            <a:outerShdw blurRad="889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9760" y="281635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7004</a:t>
            </a:r>
            <a:endParaRPr lang="en-US" sz="13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AWS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418320" y="3310128"/>
            <a:ext cx="210312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/>
          <p:nvPr/>
        </p:nvSpPr>
        <p:spPr>
          <a:xfrm>
            <a:off x="9418320" y="3337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 cloud: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9528048" y="356616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002C5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3639312"/>
            <a:ext cx="128016" cy="12801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802368" y="35661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MQ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10543032" y="3703320"/>
            <a:ext cx="201168" cy="0"/>
          </a:xfrm>
          <a:prstGeom prst="line">
            <a:avLst/>
          </a:prstGeom>
          <a:noFill/>
          <a:ln w="22225">
            <a:solidFill>
              <a:srgbClr val="5A6776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25"/>
          <p:cNvSpPr/>
          <p:nvPr/>
        </p:nvSpPr>
        <p:spPr>
          <a:xfrm>
            <a:off x="10799064" y="356616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90504" y="3639312"/>
            <a:ext cx="128016" cy="12801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055096" y="35661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2971800" y="2148840"/>
            <a:ext cx="393192" cy="61722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 flipV="1">
            <a:off x="2971800" y="2811779"/>
            <a:ext cx="411480" cy="571501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29"/>
          <p:cNvSpPr/>
          <p:nvPr/>
        </p:nvSpPr>
        <p:spPr>
          <a:xfrm>
            <a:off x="2724912" y="26471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5897880" y="2766060"/>
            <a:ext cx="365760" cy="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1"/>
          <p:cNvSpPr/>
          <p:nvPr/>
        </p:nvSpPr>
        <p:spPr>
          <a:xfrm>
            <a:off x="5806440" y="23820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 flipV="1">
            <a:off x="8778240" y="2194560"/>
            <a:ext cx="438912" cy="566928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33"/>
          <p:cNvSpPr/>
          <p:nvPr/>
        </p:nvSpPr>
        <p:spPr>
          <a:xfrm>
            <a:off x="8778240" y="2766060"/>
            <a:ext cx="438912" cy="525780"/>
          </a:xfrm>
          <a:prstGeom prst="line">
            <a:avLst/>
          </a:prstGeom>
          <a:noFill/>
          <a:ln w="31750">
            <a:solidFill>
              <a:srgbClr val="EC700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34"/>
          <p:cNvSpPr/>
          <p:nvPr/>
        </p:nvSpPr>
        <p:spPr>
          <a:xfrm>
            <a:off x="8649031" y="26340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457200" y="4434840"/>
            <a:ext cx="1124712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36"/>
          <p:cNvSpPr/>
          <p:nvPr/>
        </p:nvSpPr>
        <p:spPr>
          <a:xfrm>
            <a:off x="731520" y="459943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gerados no online e executados nas portas</a:t>
            </a:r>
            <a:endParaRPr lang="en-US" sz="1400" dirty="0"/>
          </a:p>
        </p:txBody>
      </p:sp>
      <p:sp>
        <p:nvSpPr>
          <p:cNvPr id="47" name="Shape 37"/>
          <p:cNvSpPr/>
          <p:nvPr/>
        </p:nvSpPr>
        <p:spPr>
          <a:xfrm>
            <a:off x="731520" y="5074920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1B7A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38"/>
          <p:cNvSpPr/>
          <p:nvPr/>
        </p:nvSpPr>
        <p:spPr>
          <a:xfrm>
            <a:off x="731520" y="5074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PORTA  —  trio de transações</a:t>
            </a:r>
            <a:endParaRPr lang="en-US" sz="1150" dirty="0"/>
          </a:p>
        </p:txBody>
      </p:sp>
      <p:sp>
        <p:nvSpPr>
          <p:cNvPr id="49" name="Shape 39"/>
          <p:cNvSpPr/>
          <p:nvPr/>
        </p:nvSpPr>
        <p:spPr>
          <a:xfrm>
            <a:off x="731520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0"/>
          <p:cNvSpPr/>
          <p:nvPr/>
        </p:nvSpPr>
        <p:spPr>
          <a:xfrm>
            <a:off x="786384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Signon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2212848" y="5797296"/>
            <a:ext cx="246888" cy="0"/>
          </a:xfrm>
          <a:prstGeom prst="line">
            <a:avLst/>
          </a:prstGeom>
          <a:noFill/>
          <a:ln w="25400">
            <a:solidFill>
              <a:srgbClr val="1B7A4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2"/>
          <p:cNvSpPr/>
          <p:nvPr/>
        </p:nvSpPr>
        <p:spPr>
          <a:xfrm>
            <a:off x="2523744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43"/>
          <p:cNvSpPr/>
          <p:nvPr/>
        </p:nvSpPr>
        <p:spPr>
          <a:xfrm>
            <a:off x="2578608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sessão</a:t>
            </a:r>
            <a:endParaRPr lang="en-US" sz="1050" dirty="0"/>
          </a:p>
        </p:txBody>
      </p:sp>
      <p:sp>
        <p:nvSpPr>
          <p:cNvPr id="54" name="Shape 44"/>
          <p:cNvSpPr/>
          <p:nvPr/>
        </p:nvSpPr>
        <p:spPr>
          <a:xfrm>
            <a:off x="4005072" y="5797296"/>
            <a:ext cx="246888" cy="0"/>
          </a:xfrm>
          <a:prstGeom prst="line">
            <a:avLst/>
          </a:prstGeom>
          <a:noFill/>
          <a:ln w="25400">
            <a:solidFill>
              <a:srgbClr val="1B7A4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45"/>
          <p:cNvSpPr/>
          <p:nvPr/>
        </p:nvSpPr>
        <p:spPr>
          <a:xfrm>
            <a:off x="4315968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B7A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46"/>
          <p:cNvSpPr/>
          <p:nvPr/>
        </p:nvSpPr>
        <p:spPr>
          <a:xfrm>
            <a:off x="4370832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Troca de chave</a:t>
            </a:r>
            <a:endParaRPr lang="en-US" sz="1050" dirty="0"/>
          </a:p>
        </p:txBody>
      </p:sp>
      <p:sp>
        <p:nvSpPr>
          <p:cNvPr id="57" name="Shape 47"/>
          <p:cNvSpPr/>
          <p:nvPr/>
        </p:nvSpPr>
        <p:spPr>
          <a:xfrm>
            <a:off x="6355080" y="5074920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48"/>
          <p:cNvSpPr/>
          <p:nvPr/>
        </p:nvSpPr>
        <p:spPr>
          <a:xfrm>
            <a:off x="6355080" y="50749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DESATIVAR PORTA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255764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0"/>
          <p:cNvSpPr/>
          <p:nvPr/>
        </p:nvSpPr>
        <p:spPr>
          <a:xfrm>
            <a:off x="7310628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Signoff</a:t>
            </a:r>
            <a:endParaRPr lang="en-US" sz="1050" dirty="0"/>
          </a:p>
        </p:txBody>
      </p:sp>
      <p:sp>
        <p:nvSpPr>
          <p:cNvPr id="61" name="Shape 51"/>
          <p:cNvSpPr/>
          <p:nvPr/>
        </p:nvSpPr>
        <p:spPr>
          <a:xfrm>
            <a:off x="8737092" y="5797296"/>
            <a:ext cx="246888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2"/>
          <p:cNvSpPr/>
          <p:nvPr/>
        </p:nvSpPr>
        <p:spPr>
          <a:xfrm>
            <a:off x="9047988" y="5513832"/>
            <a:ext cx="14813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Text 53"/>
          <p:cNvSpPr/>
          <p:nvPr/>
        </p:nvSpPr>
        <p:spPr>
          <a:xfrm>
            <a:off x="9102852" y="55138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C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de sessão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262</Words>
  <Application>Microsoft Office PowerPoint</Application>
  <PresentationFormat>Widescreen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 de Portas MIP</dc:title>
  <dc:subject>PptxGenJS Presentation</dc:subject>
  <dc:creator>Marcelo</dc:creator>
  <cp:lastModifiedBy>MARCELO GABRIEL</cp:lastModifiedBy>
  <cp:revision>4</cp:revision>
  <dcterms:created xsi:type="dcterms:W3CDTF">2026-06-28T18:15:21Z</dcterms:created>
  <dcterms:modified xsi:type="dcterms:W3CDTF">2026-06-28T18:28:56Z</dcterms:modified>
</cp:coreProperties>
</file>